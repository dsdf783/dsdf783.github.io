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9" r:id="rId2"/>
  </p:sldIdLst>
  <p:sldSz cx="14400213" cy="21599525"/>
  <p:notesSz cx="6858000" cy="9144000"/>
  <p:custDataLst>
    <p:tags r:id="rId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46" userDrawn="1">
          <p15:clr>
            <a:srgbClr val="A4A3A4"/>
          </p15:clr>
        </p15:guide>
        <p15:guide id="2" pos="465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E2BD"/>
    <a:srgbClr val="F2F9EB"/>
    <a:srgbClr val="D8E1F4"/>
    <a:srgbClr val="B1DE90"/>
    <a:srgbClr val="4774CC"/>
    <a:srgbClr val="194374"/>
    <a:srgbClr val="BCBABA"/>
    <a:srgbClr val="D1D1D1"/>
    <a:srgbClr val="B7B6B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38" autoAdjust="0"/>
    <p:restoredTop sz="94660"/>
  </p:normalViewPr>
  <p:slideViewPr>
    <p:cSldViewPr snapToGrid="0" showGuides="1">
      <p:cViewPr>
        <p:scale>
          <a:sx n="25" d="100"/>
          <a:sy n="25" d="100"/>
        </p:scale>
        <p:origin x="2880" y="297"/>
      </p:cViewPr>
      <p:guideLst>
        <p:guide orient="horz" pos="6846"/>
        <p:guide pos="4653"/>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tags" Target="tags/tag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415906" y="2880133"/>
            <a:ext cx="11573859" cy="8096123"/>
          </a:xfrm>
        </p:spPr>
        <p:txBody>
          <a:bodyPr lIns="90000" tIns="46800" rIns="90000" bIns="46800" anchor="b" anchorCtr="0">
            <a:normAutofit/>
          </a:bodyPr>
          <a:lstStyle>
            <a:lvl1pPr algn="ctr">
              <a:defRPr sz="945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415906" y="11214378"/>
            <a:ext cx="11573859" cy="4637695"/>
          </a:xfrm>
        </p:spPr>
        <p:txBody>
          <a:bodyPr lIns="90000" tIns="46800" rIns="90000" bIns="46800">
            <a:normAutofit/>
          </a:bodyPr>
          <a:lstStyle>
            <a:lvl1pPr marL="0" indent="0" algn="ctr">
              <a:lnSpc>
                <a:spcPct val="110000"/>
              </a:lnSpc>
              <a:buNone/>
              <a:defRPr sz="3780" spc="200"/>
            </a:lvl1pPr>
            <a:lvl2pPr marL="720090" indent="0" algn="ctr">
              <a:buNone/>
              <a:defRPr sz="3150"/>
            </a:lvl2pPr>
            <a:lvl3pPr marL="1440180" indent="0" algn="ctr">
              <a:buNone/>
              <a:defRPr sz="2835"/>
            </a:lvl3pPr>
            <a:lvl4pPr marL="2160270" indent="0" algn="ctr">
              <a:buNone/>
              <a:defRPr sz="2520"/>
            </a:lvl4pPr>
            <a:lvl5pPr marL="2879725" indent="0" algn="ctr">
              <a:buNone/>
              <a:defRPr sz="2520"/>
            </a:lvl5pPr>
            <a:lvl6pPr marL="3599815" indent="0" algn="ctr">
              <a:buNone/>
              <a:defRPr sz="2520"/>
            </a:lvl6pPr>
            <a:lvl7pPr marL="4319905" indent="0" algn="ctr">
              <a:buNone/>
              <a:defRPr sz="2520"/>
            </a:lvl7pPr>
            <a:lvl8pPr marL="5039995" indent="0" algn="ctr">
              <a:buNone/>
              <a:defRPr sz="2520"/>
            </a:lvl8pPr>
            <a:lvl9pPr marL="5760085" indent="0" algn="ctr">
              <a:buNone/>
              <a:defRPr sz="252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2026/1/11</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718583" y="4694391"/>
            <a:ext cx="12955748" cy="14990301"/>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2026/1/11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2351339" y="12121506"/>
            <a:ext cx="9175748" cy="2415230"/>
          </a:xfrm>
        </p:spPr>
        <p:txBody>
          <a:bodyPr lIns="90000" tIns="46800" rIns="90000" bIns="46800" anchor="b" anchorCtr="0">
            <a:normAutofit/>
          </a:bodyPr>
          <a:lstStyle>
            <a:lvl1pPr>
              <a:defRPr sz="693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2351339" y="14536736"/>
            <a:ext cx="9175748" cy="2732725"/>
          </a:xfrm>
        </p:spPr>
        <p:txBody>
          <a:bodyPr lIns="90000" tIns="46800" rIns="90000" bIns="46800">
            <a:normAutofit/>
          </a:bodyPr>
          <a:lstStyle>
            <a:lvl1pPr marL="0" indent="0">
              <a:buNone/>
              <a:defRPr sz="2835">
                <a:solidFill>
                  <a:schemeClr val="tx1">
                    <a:lumMod val="65000"/>
                    <a:lumOff val="35000"/>
                  </a:schemeClr>
                </a:solidFill>
              </a:defRPr>
            </a:lvl1pPr>
            <a:lvl2pPr marL="720090" indent="0">
              <a:buNone/>
              <a:defRPr sz="2520">
                <a:solidFill>
                  <a:schemeClr val="tx1">
                    <a:tint val="75000"/>
                  </a:schemeClr>
                </a:solidFill>
              </a:defRPr>
            </a:lvl2pPr>
            <a:lvl3pPr marL="1440180" indent="0">
              <a:buNone/>
              <a:defRPr sz="2520">
                <a:solidFill>
                  <a:schemeClr val="tx1">
                    <a:tint val="75000"/>
                  </a:schemeClr>
                </a:solidFill>
              </a:defRPr>
            </a:lvl3pPr>
            <a:lvl4pPr marL="2160270" indent="0">
              <a:buNone/>
              <a:defRPr sz="2520">
                <a:solidFill>
                  <a:schemeClr val="tx1">
                    <a:tint val="75000"/>
                  </a:schemeClr>
                </a:solidFill>
              </a:defRPr>
            </a:lvl4pPr>
            <a:lvl5pPr marL="2879725" indent="0">
              <a:buNone/>
              <a:defRPr sz="2520">
                <a:solidFill>
                  <a:schemeClr val="tx1">
                    <a:tint val="75000"/>
                  </a:schemeClr>
                </a:solidFill>
              </a:defRPr>
            </a:lvl5pPr>
            <a:lvl6pPr marL="3599815" indent="0">
              <a:buNone/>
              <a:defRPr sz="2520">
                <a:solidFill>
                  <a:schemeClr val="tx1">
                    <a:tint val="75000"/>
                  </a:schemeClr>
                </a:solidFill>
              </a:defRPr>
            </a:lvl6pPr>
            <a:lvl7pPr marL="4319905" indent="0">
              <a:buNone/>
              <a:defRPr sz="2520">
                <a:solidFill>
                  <a:schemeClr val="tx1">
                    <a:tint val="75000"/>
                  </a:schemeClr>
                </a:solidFill>
              </a:defRPr>
            </a:lvl7pPr>
            <a:lvl8pPr marL="5039995" indent="0">
              <a:buNone/>
              <a:defRPr sz="2520">
                <a:solidFill>
                  <a:schemeClr val="tx1">
                    <a:tint val="75000"/>
                  </a:schemeClr>
                </a:solidFill>
              </a:defRPr>
            </a:lvl8pPr>
            <a:lvl9pPr marL="5760085" indent="0">
              <a:buNone/>
              <a:defRPr sz="252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2026/1/11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718583" y="4728408"/>
            <a:ext cx="6114331" cy="14956283"/>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7572756" y="4728408"/>
            <a:ext cx="6114331" cy="14956283"/>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2026/1/11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718583" y="4501626"/>
            <a:ext cx="6309921" cy="1201945"/>
          </a:xfrm>
        </p:spPr>
        <p:txBody>
          <a:bodyPr lIns="101600" tIns="38100" rIns="76200" bIns="38100" anchor="t" anchorCtr="0">
            <a:normAutofit/>
          </a:bodyPr>
          <a:lstStyle>
            <a:lvl1pPr marL="0" indent="0">
              <a:lnSpc>
                <a:spcPct val="100000"/>
              </a:lnSpc>
              <a:buNone/>
              <a:defRPr sz="3150" b="1" spc="200">
                <a:solidFill>
                  <a:schemeClr val="tx1">
                    <a:lumMod val="75000"/>
                    <a:lumOff val="25000"/>
                  </a:schemeClr>
                </a:solidFill>
              </a:defRPr>
            </a:lvl1pPr>
            <a:lvl2pPr marL="720090" indent="0">
              <a:buNone/>
              <a:defRPr sz="3150" b="1"/>
            </a:lvl2pPr>
            <a:lvl3pPr marL="1440180" indent="0">
              <a:buNone/>
              <a:defRPr sz="2835" b="1"/>
            </a:lvl3pPr>
            <a:lvl4pPr marL="2160270" indent="0">
              <a:buNone/>
              <a:defRPr sz="2520" b="1"/>
            </a:lvl4pPr>
            <a:lvl5pPr marL="2879725" indent="0">
              <a:buNone/>
              <a:defRPr sz="2520" b="1"/>
            </a:lvl5pPr>
            <a:lvl6pPr marL="3599815" indent="0">
              <a:buNone/>
              <a:defRPr sz="2520" b="1"/>
            </a:lvl6pPr>
            <a:lvl7pPr marL="4319905" indent="0">
              <a:buNone/>
              <a:defRPr sz="2520" b="1"/>
            </a:lvl7pPr>
            <a:lvl8pPr marL="5039995" indent="0">
              <a:buNone/>
              <a:defRPr sz="2520" b="1"/>
            </a:lvl8pPr>
            <a:lvl9pPr marL="5760085" indent="0">
              <a:buNone/>
              <a:defRPr sz="252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718583" y="5839641"/>
            <a:ext cx="6309921" cy="13845051"/>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7365059" y="4478094"/>
            <a:ext cx="6309921" cy="1201945"/>
          </a:xfrm>
        </p:spPr>
        <p:txBody>
          <a:bodyPr vert="horz" lIns="101600" tIns="38100" rIns="76200" bIns="38100" rtlCol="0" anchor="t" anchorCtr="0">
            <a:normAutofit/>
          </a:bodyPr>
          <a:lstStyle>
            <a:lvl1pPr marL="0" indent="0">
              <a:lnSpc>
                <a:spcPct val="100000"/>
              </a:lnSpc>
              <a:buNone/>
              <a:defRPr sz="3150" b="1" spc="200">
                <a:solidFill>
                  <a:schemeClr val="tx1">
                    <a:lumMod val="75000"/>
                    <a:lumOff val="25000"/>
                  </a:schemeClr>
                </a:solidFill>
              </a:defRPr>
            </a:lvl1pPr>
            <a:lvl2pPr marL="720090" indent="0">
              <a:buNone/>
              <a:defRPr sz="3150" b="1"/>
            </a:lvl2pPr>
            <a:lvl3pPr marL="1440180" indent="0">
              <a:buNone/>
              <a:defRPr sz="2835" b="1"/>
            </a:lvl3pPr>
            <a:lvl4pPr marL="2160270" indent="0">
              <a:buNone/>
              <a:defRPr sz="2520" b="1"/>
            </a:lvl4pPr>
            <a:lvl5pPr marL="2879725" indent="0">
              <a:buNone/>
              <a:defRPr sz="2520" b="1"/>
            </a:lvl5pPr>
            <a:lvl6pPr marL="3599815" indent="0">
              <a:buNone/>
              <a:defRPr sz="2520" b="1"/>
            </a:lvl6pPr>
            <a:lvl7pPr marL="4319905" indent="0">
              <a:buNone/>
              <a:defRPr sz="2520" b="1"/>
            </a:lvl7pPr>
            <a:lvl8pPr marL="5039995" indent="0">
              <a:buNone/>
              <a:defRPr sz="2520" b="1"/>
            </a:lvl8pPr>
            <a:lvl9pPr marL="5760085" indent="0">
              <a:buNone/>
              <a:defRPr sz="252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7365059" y="5839641"/>
            <a:ext cx="6309921" cy="13845051"/>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2026/1/11</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2026/1/11</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2026/1/11</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718583" y="4898495"/>
            <a:ext cx="6180800" cy="14514058"/>
          </a:xfrm>
        </p:spPr>
        <p:txBody>
          <a:bodyPr vert="horz" lIns="90000" tIns="46800" rIns="90000" bIns="46800" rtlCol="0">
            <a:normAutofit/>
          </a:bodyPr>
          <a:lstStyle>
            <a:lvl1pPr>
              <a:buNone/>
              <a:defRPr sz="2520"/>
            </a:lvl1pPr>
          </a:lstStyle>
          <a:p>
            <a:pPr lvl="0"/>
            <a:endParaRPr lang="zh-CN" altLang="en-US"/>
          </a:p>
        </p:txBody>
      </p:sp>
      <p:sp>
        <p:nvSpPr>
          <p:cNvPr id="4" name="文本占位符 3"/>
          <p:cNvSpPr>
            <a:spLocks noGrp="1"/>
          </p:cNvSpPr>
          <p:nvPr>
            <p:ph type="body" sz="half" idx="2"/>
            <p:custDataLst>
              <p:tags r:id="rId2"/>
            </p:custDataLst>
          </p:nvPr>
        </p:nvSpPr>
        <p:spPr>
          <a:xfrm>
            <a:off x="7500473" y="4898495"/>
            <a:ext cx="6173858" cy="14514058"/>
          </a:xfrm>
        </p:spPr>
        <p:txBody>
          <a:bodyPr vert="horz" lIns="90000" tIns="46800" rIns="90000" bIns="46800" rtlCol="0">
            <a:normAutofit/>
          </a:bodyPr>
          <a:lstStyle>
            <a:lvl1pPr>
              <a:buNone/>
              <a:defRPr sz="252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2026/1/11</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2088347" y="2880133"/>
            <a:ext cx="1233071" cy="15840734"/>
          </a:xfrm>
        </p:spPr>
        <p:txBody>
          <a:bodyPr vert="eaVert" lIns="90000" tIns="46800" rIns="90000" bIns="46800" rtlCol="0" anchor="ctr" anchorCtr="0">
            <a:normAutofit/>
          </a:bodyPr>
          <a:lstStyle>
            <a:lvl1pPr>
              <a:buNone/>
              <a:defRPr sz="441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1080000" y="2880133"/>
            <a:ext cx="10829764" cy="15840734"/>
          </a:xfrm>
        </p:spPr>
        <p:txBody>
          <a:bodyPr vert="eaVert" lIns="46800" tIns="46800" rIns="46800" bIns="46800"/>
          <a:lstStyle>
            <a:lvl1pPr marL="360045" indent="-360045">
              <a:spcAft>
                <a:spcPts val="1000"/>
              </a:spcAft>
              <a:defRPr spc="300"/>
            </a:lvl1pPr>
            <a:lvl2pPr marL="1080135" indent="-360045">
              <a:defRPr spc="300"/>
            </a:lvl2pPr>
            <a:lvl3pPr marL="1800225" indent="-360045">
              <a:defRPr spc="300"/>
            </a:lvl3pPr>
            <a:lvl4pPr marL="2520315" indent="-360045">
              <a:defRPr spc="300"/>
            </a:lvl4pPr>
            <a:lvl5pPr marL="3239770" indent="-360045">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2026/1/11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2026/1/11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718583" y="2437908"/>
            <a:ext cx="12960000" cy="1726946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2026/1/11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415906" y="7823984"/>
            <a:ext cx="11573859" cy="3208968"/>
          </a:xfrm>
        </p:spPr>
        <p:txBody>
          <a:bodyPr vert="horz" lIns="90000" tIns="46800" rIns="90000" bIns="46800" rtlCol="0" anchor="t" anchorCtr="0">
            <a:normAutofit/>
          </a:bodyPr>
          <a:lstStyle>
            <a:lvl1pPr algn="ctr">
              <a:defRPr sz="945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415906" y="11214378"/>
            <a:ext cx="11573859" cy="1485423"/>
          </a:xfrm>
        </p:spPr>
        <p:txBody>
          <a:bodyPr lIns="90000" tIns="46800" rIns="90000" bIns="46800">
            <a:normAutofit/>
          </a:bodyPr>
          <a:lstStyle>
            <a:lvl1pPr algn="ctr">
              <a:lnSpc>
                <a:spcPct val="110000"/>
              </a:lnSpc>
              <a:buNone/>
              <a:defRPr sz="378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718583" y="1916309"/>
            <a:ext cx="12955748" cy="2222465"/>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718583" y="4694391"/>
            <a:ext cx="12955748" cy="14990301"/>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722835" y="19888795"/>
            <a:ext cx="3188976" cy="997842"/>
          </a:xfrm>
          <a:prstGeom prst="rect">
            <a:avLst/>
          </a:prstGeom>
        </p:spPr>
        <p:txBody>
          <a:bodyPr vert="horz" lIns="91440" tIns="45720" rIns="91440" bIns="45720" rtlCol="0" anchor="ctr">
            <a:normAutofit/>
          </a:bodyPr>
          <a:lstStyle>
            <a:lvl1pPr algn="l">
              <a:defRPr sz="1575" baseline="0">
                <a:solidFill>
                  <a:schemeClr val="tx1">
                    <a:tint val="75000"/>
                  </a:schemeClr>
                </a:solidFill>
              </a:defRPr>
            </a:lvl1pPr>
          </a:lstStyle>
          <a:p>
            <a:fld id="{760FBDFE-C587-4B4C-A407-44438C67B59E}" type="datetimeFigureOut">
              <a:rPr lang="zh-CN" altLang="en-US" smtClean="0"/>
              <a:t>2026/1/11</a:t>
            </a:fld>
            <a:endParaRPr lang="zh-CN" altLang="en-US"/>
          </a:p>
        </p:txBody>
      </p:sp>
      <p:sp>
        <p:nvSpPr>
          <p:cNvPr id="5" name="页脚占位符 4"/>
          <p:cNvSpPr>
            <a:spLocks noGrp="1"/>
          </p:cNvSpPr>
          <p:nvPr>
            <p:ph type="ftr" sz="quarter" idx="3"/>
            <p:custDataLst>
              <p:tags r:id="rId17"/>
            </p:custDataLst>
          </p:nvPr>
        </p:nvSpPr>
        <p:spPr>
          <a:xfrm>
            <a:off x="4861417" y="19888795"/>
            <a:ext cx="4677165" cy="997842"/>
          </a:xfrm>
          <a:prstGeom prst="rect">
            <a:avLst/>
          </a:prstGeom>
        </p:spPr>
        <p:txBody>
          <a:bodyPr vert="horz" lIns="91440" tIns="45720" rIns="91440" bIns="45720" rtlCol="0" anchor="ctr">
            <a:normAutofit/>
          </a:bodyPr>
          <a:lstStyle>
            <a:lvl1pPr algn="ctr">
              <a:defRPr sz="1575"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10485355" y="19888795"/>
            <a:ext cx="3188976" cy="997842"/>
          </a:xfrm>
          <a:prstGeom prst="rect">
            <a:avLst/>
          </a:prstGeom>
        </p:spPr>
        <p:txBody>
          <a:bodyPr vert="horz" lIns="91440" tIns="45720" rIns="91440" bIns="45720" rtlCol="0" anchor="ctr">
            <a:normAutofit/>
          </a:bodyPr>
          <a:lstStyle>
            <a:lvl1pPr algn="r">
              <a:defRPr sz="1575"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440180" rtl="0" eaLnBrk="1" fontAlgn="auto" latinLnBrk="0" hangingPunct="1">
        <a:lnSpc>
          <a:spcPct val="100000"/>
        </a:lnSpc>
        <a:spcBef>
          <a:spcPct val="0"/>
        </a:spcBef>
        <a:buNone/>
        <a:defRPr sz="5670" b="0" u="none" strike="noStrike" kern="1200" cap="none" spc="300" normalizeH="0" baseline="0">
          <a:solidFill>
            <a:schemeClr val="tx1">
              <a:lumMod val="85000"/>
              <a:lumOff val="15000"/>
            </a:schemeClr>
          </a:solidFill>
          <a:uFillTx/>
          <a:latin typeface="+mj-lt"/>
          <a:ea typeface="+mj-ea"/>
          <a:cs typeface="+mj-cs"/>
        </a:defRPr>
      </a:lvl1pPr>
    </p:titleStyle>
    <p:bodyStyle>
      <a:lvl1pPr marL="360045" indent="-360045" algn="l" defTabSz="1440180" rtl="0" eaLnBrk="1" fontAlgn="auto" latinLnBrk="0" hangingPunct="1">
        <a:lnSpc>
          <a:spcPct val="130000"/>
        </a:lnSpc>
        <a:spcBef>
          <a:spcPct val="1000"/>
        </a:spcBef>
        <a:spcAft>
          <a:spcPts val="1000"/>
        </a:spcAft>
        <a:buFont typeface="Arial" panose="020B0604020202020204" pitchFamily="34" charset="0"/>
        <a:buChar char="●"/>
        <a:defRPr sz="2835" u="none" strike="noStrike" kern="1200" cap="none" spc="150" normalizeH="0" baseline="0">
          <a:solidFill>
            <a:schemeClr val="tx1">
              <a:lumMod val="65000"/>
              <a:lumOff val="35000"/>
            </a:schemeClr>
          </a:solidFill>
          <a:uFillTx/>
          <a:latin typeface="+mn-lt"/>
          <a:ea typeface="+mn-ea"/>
          <a:cs typeface="+mn-cs"/>
        </a:defRPr>
      </a:lvl1pPr>
      <a:lvl2pPr marL="1080135" indent="-360045" algn="l" defTabSz="1440180" rtl="0" eaLnBrk="1" fontAlgn="auto" latinLnBrk="0" hangingPunct="1">
        <a:lnSpc>
          <a:spcPct val="120000"/>
        </a:lnSpc>
        <a:spcBef>
          <a:spcPct val="1000"/>
        </a:spcBef>
        <a:spcAft>
          <a:spcPts val="600"/>
        </a:spcAft>
        <a:buFont typeface="Arial" panose="020B0604020202020204" pitchFamily="34" charset="0"/>
        <a:buChar char="●"/>
        <a:tabLst>
          <a:tab pos="2534920" algn="l"/>
          <a:tab pos="2534920" algn="l"/>
          <a:tab pos="2534920" algn="l"/>
          <a:tab pos="2534920" algn="l"/>
        </a:tabLst>
        <a:defRPr sz="2520" u="none" strike="noStrike" kern="1200" cap="none" spc="150" normalizeH="0" baseline="0">
          <a:solidFill>
            <a:schemeClr val="tx1">
              <a:lumMod val="65000"/>
              <a:lumOff val="35000"/>
            </a:schemeClr>
          </a:solidFill>
          <a:uFillTx/>
          <a:latin typeface="+mn-lt"/>
          <a:ea typeface="+mn-ea"/>
          <a:cs typeface="+mn-cs"/>
        </a:defRPr>
      </a:lvl2pPr>
      <a:lvl3pPr marL="1800225" indent="-360045" algn="l" defTabSz="1440180" rtl="0" eaLnBrk="1" fontAlgn="auto" latinLnBrk="0" hangingPunct="1">
        <a:lnSpc>
          <a:spcPct val="120000"/>
        </a:lnSpc>
        <a:spcBef>
          <a:spcPct val="1000"/>
        </a:spcBef>
        <a:spcAft>
          <a:spcPts val="600"/>
        </a:spcAft>
        <a:buFont typeface="Arial" panose="020B0604020202020204" pitchFamily="34" charset="0"/>
        <a:buChar char="●"/>
        <a:defRPr sz="2520" u="none" strike="noStrike" kern="1200" cap="none" spc="150" normalizeH="0" baseline="0">
          <a:solidFill>
            <a:schemeClr val="tx1">
              <a:lumMod val="65000"/>
              <a:lumOff val="35000"/>
            </a:schemeClr>
          </a:solidFill>
          <a:uFillTx/>
          <a:latin typeface="+mn-lt"/>
          <a:ea typeface="+mn-ea"/>
          <a:cs typeface="+mn-cs"/>
        </a:defRPr>
      </a:lvl3pPr>
      <a:lvl4pPr marL="2520315" indent="-360045" algn="l" defTabSz="1440180" rtl="0" eaLnBrk="1" fontAlgn="auto" latinLnBrk="0" hangingPunct="1">
        <a:lnSpc>
          <a:spcPct val="120000"/>
        </a:lnSpc>
        <a:spcBef>
          <a:spcPct val="1000"/>
        </a:spcBef>
        <a:spcAft>
          <a:spcPts val="300"/>
        </a:spcAft>
        <a:buFont typeface="Wingdings" panose="05000000000000000000" charset="0"/>
        <a:buChar char=""/>
        <a:defRPr sz="2205" u="none" strike="noStrike" kern="1200" cap="none" spc="150" normalizeH="0" baseline="0">
          <a:solidFill>
            <a:schemeClr val="tx1">
              <a:lumMod val="65000"/>
              <a:lumOff val="35000"/>
            </a:schemeClr>
          </a:solidFill>
          <a:uFillTx/>
          <a:latin typeface="+mn-lt"/>
          <a:ea typeface="+mn-ea"/>
          <a:cs typeface="+mn-cs"/>
        </a:defRPr>
      </a:lvl4pPr>
      <a:lvl5pPr marL="3239770" indent="-360045" algn="l" defTabSz="1440180" rtl="0" eaLnBrk="1" fontAlgn="auto" latinLnBrk="0" hangingPunct="1">
        <a:lnSpc>
          <a:spcPct val="120000"/>
        </a:lnSpc>
        <a:spcBef>
          <a:spcPct val="1000"/>
        </a:spcBef>
        <a:spcAft>
          <a:spcPts val="300"/>
        </a:spcAft>
        <a:buFont typeface="Arial" panose="020B0604020202020204" pitchFamily="34" charset="0"/>
        <a:buChar char="•"/>
        <a:defRPr sz="2205" u="none" strike="noStrike" kern="1200" cap="none" spc="150" normalizeH="0" baseline="0">
          <a:solidFill>
            <a:schemeClr val="tx1">
              <a:lumMod val="65000"/>
              <a:lumOff val="35000"/>
            </a:schemeClr>
          </a:solidFill>
          <a:uFillTx/>
          <a:latin typeface="+mn-lt"/>
          <a:ea typeface="+mn-ea"/>
          <a:cs typeface="+mn-cs"/>
        </a:defRPr>
      </a:lvl5pPr>
      <a:lvl6pPr marL="3959860" indent="-360045" algn="l" defTabSz="1440180" rtl="0" eaLnBrk="1" latinLnBrk="0" hangingPunct="1">
        <a:lnSpc>
          <a:spcPct val="90000"/>
        </a:lnSpc>
        <a:spcBef>
          <a:spcPts val="790"/>
        </a:spcBef>
        <a:buFont typeface="Arial" panose="020B0604020202020204" pitchFamily="34" charset="0"/>
        <a:buChar char="•"/>
        <a:defRPr sz="2835" kern="1200">
          <a:solidFill>
            <a:schemeClr val="tx1"/>
          </a:solidFill>
          <a:latin typeface="+mn-lt"/>
          <a:ea typeface="+mn-ea"/>
          <a:cs typeface="+mn-cs"/>
        </a:defRPr>
      </a:lvl6pPr>
      <a:lvl7pPr marL="4679950" indent="-360045" algn="l" defTabSz="1440180" rtl="0" eaLnBrk="1" latinLnBrk="0" hangingPunct="1">
        <a:lnSpc>
          <a:spcPct val="90000"/>
        </a:lnSpc>
        <a:spcBef>
          <a:spcPts val="790"/>
        </a:spcBef>
        <a:buFont typeface="Arial" panose="020B0604020202020204" pitchFamily="34" charset="0"/>
        <a:buChar char="•"/>
        <a:defRPr sz="2835" kern="1200">
          <a:solidFill>
            <a:schemeClr val="tx1"/>
          </a:solidFill>
          <a:latin typeface="+mn-lt"/>
          <a:ea typeface="+mn-ea"/>
          <a:cs typeface="+mn-cs"/>
        </a:defRPr>
      </a:lvl7pPr>
      <a:lvl8pPr marL="5400040" indent="-360045" algn="l" defTabSz="1440180" rtl="0" eaLnBrk="1" latinLnBrk="0" hangingPunct="1">
        <a:lnSpc>
          <a:spcPct val="90000"/>
        </a:lnSpc>
        <a:spcBef>
          <a:spcPts val="790"/>
        </a:spcBef>
        <a:buFont typeface="Arial" panose="020B0604020202020204" pitchFamily="34" charset="0"/>
        <a:buChar char="•"/>
        <a:defRPr sz="2835" kern="1200">
          <a:solidFill>
            <a:schemeClr val="tx1"/>
          </a:solidFill>
          <a:latin typeface="+mn-lt"/>
          <a:ea typeface="+mn-ea"/>
          <a:cs typeface="+mn-cs"/>
        </a:defRPr>
      </a:lvl8pPr>
      <a:lvl9pPr marL="6120130" indent="-360045" algn="l" defTabSz="1440180" rtl="0" eaLnBrk="1" latinLnBrk="0" hangingPunct="1">
        <a:lnSpc>
          <a:spcPct val="90000"/>
        </a:lnSpc>
        <a:spcBef>
          <a:spcPts val="790"/>
        </a:spcBef>
        <a:buFont typeface="Arial" panose="020B0604020202020204" pitchFamily="34" charset="0"/>
        <a:buChar char="•"/>
        <a:defRPr sz="2835" kern="1200">
          <a:solidFill>
            <a:schemeClr val="tx1"/>
          </a:solidFill>
          <a:latin typeface="+mn-lt"/>
          <a:ea typeface="+mn-ea"/>
          <a:cs typeface="+mn-cs"/>
        </a:defRPr>
      </a:lvl9pPr>
    </p:bodyStyle>
    <p:otherStyle>
      <a:defPPr>
        <a:defRPr lang="zh-CN"/>
      </a:defPPr>
      <a:lvl1pPr marL="0" algn="l" defTabSz="1440180" rtl="0" eaLnBrk="1" latinLnBrk="0" hangingPunct="1">
        <a:defRPr sz="2835" kern="1200">
          <a:solidFill>
            <a:schemeClr val="tx1"/>
          </a:solidFill>
          <a:latin typeface="+mn-lt"/>
          <a:ea typeface="+mn-ea"/>
          <a:cs typeface="+mn-cs"/>
        </a:defRPr>
      </a:lvl1pPr>
      <a:lvl2pPr marL="720090" algn="l" defTabSz="1440180" rtl="0" eaLnBrk="1" latinLnBrk="0" hangingPunct="1">
        <a:defRPr sz="2835" kern="1200">
          <a:solidFill>
            <a:schemeClr val="tx1"/>
          </a:solidFill>
          <a:latin typeface="+mn-lt"/>
          <a:ea typeface="+mn-ea"/>
          <a:cs typeface="+mn-cs"/>
        </a:defRPr>
      </a:lvl2pPr>
      <a:lvl3pPr marL="1440180" algn="l" defTabSz="1440180" rtl="0" eaLnBrk="1" latinLnBrk="0" hangingPunct="1">
        <a:defRPr sz="2835" kern="1200">
          <a:solidFill>
            <a:schemeClr val="tx1"/>
          </a:solidFill>
          <a:latin typeface="+mn-lt"/>
          <a:ea typeface="+mn-ea"/>
          <a:cs typeface="+mn-cs"/>
        </a:defRPr>
      </a:lvl3pPr>
      <a:lvl4pPr marL="2160270" algn="l" defTabSz="1440180" rtl="0" eaLnBrk="1" latinLnBrk="0" hangingPunct="1">
        <a:defRPr sz="2835" kern="1200">
          <a:solidFill>
            <a:schemeClr val="tx1"/>
          </a:solidFill>
          <a:latin typeface="+mn-lt"/>
          <a:ea typeface="+mn-ea"/>
          <a:cs typeface="+mn-cs"/>
        </a:defRPr>
      </a:lvl4pPr>
      <a:lvl5pPr marL="2879725" algn="l" defTabSz="1440180" rtl="0" eaLnBrk="1" latinLnBrk="0" hangingPunct="1">
        <a:defRPr sz="2835" kern="1200">
          <a:solidFill>
            <a:schemeClr val="tx1"/>
          </a:solidFill>
          <a:latin typeface="+mn-lt"/>
          <a:ea typeface="+mn-ea"/>
          <a:cs typeface="+mn-cs"/>
        </a:defRPr>
      </a:lvl5pPr>
      <a:lvl6pPr marL="3599815" algn="l" defTabSz="1440180" rtl="0" eaLnBrk="1" latinLnBrk="0" hangingPunct="1">
        <a:defRPr sz="2835" kern="1200">
          <a:solidFill>
            <a:schemeClr val="tx1"/>
          </a:solidFill>
          <a:latin typeface="+mn-lt"/>
          <a:ea typeface="+mn-ea"/>
          <a:cs typeface="+mn-cs"/>
        </a:defRPr>
      </a:lvl6pPr>
      <a:lvl7pPr marL="4319905" algn="l" defTabSz="1440180" rtl="0" eaLnBrk="1" latinLnBrk="0" hangingPunct="1">
        <a:defRPr sz="2835" kern="1200">
          <a:solidFill>
            <a:schemeClr val="tx1"/>
          </a:solidFill>
          <a:latin typeface="+mn-lt"/>
          <a:ea typeface="+mn-ea"/>
          <a:cs typeface="+mn-cs"/>
        </a:defRPr>
      </a:lvl7pPr>
      <a:lvl8pPr marL="5039995" algn="l" defTabSz="1440180" rtl="0" eaLnBrk="1" latinLnBrk="0" hangingPunct="1">
        <a:defRPr sz="2835" kern="1200">
          <a:solidFill>
            <a:schemeClr val="tx1"/>
          </a:solidFill>
          <a:latin typeface="+mn-lt"/>
          <a:ea typeface="+mn-ea"/>
          <a:cs typeface="+mn-cs"/>
        </a:defRPr>
      </a:lvl8pPr>
      <a:lvl9pPr marL="5760085" algn="l" defTabSz="1440180" rtl="0" eaLnBrk="1" latinLnBrk="0" hangingPunct="1">
        <a:defRPr sz="28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jpg"/><Relationship Id="rId3" Type="http://schemas.openxmlformats.org/officeDocument/2006/relationships/image" Target="../media/image1.jpeg"/><Relationship Id="rId21" Type="http://schemas.openxmlformats.org/officeDocument/2006/relationships/image" Target="../media/image19.png"/><Relationship Id="rId7" Type="http://schemas.openxmlformats.org/officeDocument/2006/relationships/image" Target="../media/image5.jpe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slideLayout" Target="../slideLayouts/slideLayout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tags" Target="../tags/tag64.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jpe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 name="图片占位符 6"/>
          <p:cNvPicPr>
            <a:picLocks noGrp="1" noChangeAspect="1"/>
          </p:cNvPicPr>
          <p:nvPr/>
        </p:nvPicPr>
        <p:blipFill>
          <a:blip r:embed="rId3">
            <a:alphaModFix amt="20000"/>
            <a:extLst>
              <a:ext uri="{28A0092B-C50C-407E-A947-70E740481C1C}">
                <a14:useLocalDpi xmlns:a14="http://schemas.microsoft.com/office/drawing/2010/main" val="0"/>
              </a:ext>
            </a:extLst>
          </a:blip>
          <a:srcRect t="13947" b="13947"/>
          <a:stretch>
            <a:fillRect/>
          </a:stretch>
        </p:blipFill>
        <p:spPr>
          <a:xfrm>
            <a:off x="4250" y="18472"/>
            <a:ext cx="14394613" cy="2406172"/>
          </a:xfrm>
          <a:prstGeom prst="roundRect">
            <a:avLst>
              <a:gd name="adj" fmla="val 2153"/>
            </a:avLst>
          </a:prstGeom>
        </p:spPr>
      </p:pic>
      <p:sp>
        <p:nvSpPr>
          <p:cNvPr id="125" name="矩形 124"/>
          <p:cNvSpPr/>
          <p:nvPr/>
        </p:nvSpPr>
        <p:spPr>
          <a:xfrm>
            <a:off x="7381907" y="9490053"/>
            <a:ext cx="6881145" cy="5861179"/>
          </a:xfrm>
          <a:prstGeom prst="rect">
            <a:avLst/>
          </a:prstGeom>
          <a:ln w="6350">
            <a:prstDash val="sysDot"/>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1" name="文本框 20"/>
          <p:cNvSpPr txBox="1"/>
          <p:nvPr/>
        </p:nvSpPr>
        <p:spPr>
          <a:xfrm>
            <a:off x="203066" y="2466808"/>
            <a:ext cx="8737661" cy="2677656"/>
          </a:xfrm>
          <a:prstGeom prst="rect">
            <a:avLst/>
          </a:prstGeom>
          <a:noFill/>
        </p:spPr>
        <p:txBody>
          <a:bodyPr wrap="square" rtlCol="0" anchor="t">
            <a:spAutoFit/>
          </a:bodyPr>
          <a:lstStyle/>
          <a:p>
            <a:pPr algn="just"/>
            <a:r>
              <a:rPr lang="en-US" altLang="zh-CN" sz="2400" b="1" dirty="0">
                <a:solidFill>
                  <a:schemeClr val="accent1">
                    <a:lumMod val="75000"/>
                  </a:schemeClr>
                </a:solidFill>
              </a:rPr>
              <a:t>Introduction</a:t>
            </a:r>
            <a:endParaRPr lang="zh-CN" altLang="en-US" sz="2400" b="1" dirty="0">
              <a:solidFill>
                <a:schemeClr val="accent1">
                  <a:lumMod val="75000"/>
                </a:schemeClr>
              </a:solidFill>
            </a:endParaRPr>
          </a:p>
          <a:p>
            <a:pPr algn="just"/>
            <a:r>
              <a:rPr lang="en-US" sz="1400" dirty="0">
                <a:latin typeface="微软雅黑" panose="020B0503020204020204" pitchFamily="34" charset="-122"/>
                <a:ea typeface="微软雅黑" panose="020B0503020204020204" pitchFamily="34" charset="-122"/>
              </a:rPr>
              <a:t>        </a:t>
            </a:r>
            <a:r>
              <a:rPr lang="en-US" sz="1600" dirty="0">
                <a:latin typeface="微软雅黑" panose="020B0503020204020204" pitchFamily="34" charset="-122"/>
                <a:ea typeface="微软雅黑" panose="020B0503020204020204" pitchFamily="34" charset="-122"/>
              </a:rPr>
              <a:t>Realistic choreography demands simultaneous attention to </a:t>
            </a:r>
            <a:r>
              <a:rPr lang="en-US" sz="1600" b="1" dirty="0">
                <a:latin typeface="微软雅黑" panose="020B0503020204020204" pitchFamily="34" charset="-122"/>
                <a:ea typeface="微软雅黑" panose="020B0503020204020204" pitchFamily="34" charset="-122"/>
              </a:rPr>
              <a:t>rhythm and motivation</a:t>
            </a:r>
            <a:r>
              <a:rPr lang="en-US" sz="1600" dirty="0">
                <a:latin typeface="微软雅黑" panose="020B0503020204020204" pitchFamily="34" charset="-122"/>
                <a:ea typeface="微软雅黑" panose="020B0503020204020204" pitchFamily="34" charset="-122"/>
              </a:rPr>
              <a:t>. Prevailing automated dance generation methods mainly depend on musical input, overlooking the motivations that drive meaningful dance creation. </a:t>
            </a:r>
            <a:r>
              <a:rPr lang="en-US" sz="1600" b="1" dirty="0">
                <a:latin typeface="微软雅黑" panose="020B0503020204020204" pitchFamily="34" charset="-122"/>
                <a:ea typeface="微软雅黑" panose="020B0503020204020204" pitchFamily="34" charset="-122"/>
              </a:rPr>
              <a:t>Inspired by the motivation choreography</a:t>
            </a:r>
            <a:r>
              <a:rPr lang="en-US" sz="1600" dirty="0">
                <a:latin typeface="微软雅黑" panose="020B0503020204020204" pitchFamily="34" charset="-122"/>
                <a:ea typeface="微软雅黑" panose="020B0503020204020204" pitchFamily="34" charset="-122"/>
              </a:rPr>
              <a:t>, we aim to articulate dance motivations through textual guidance. However, the absence of high-quality datasets concurrently containing </a:t>
            </a:r>
            <a:r>
              <a:rPr lang="en-US" sz="1600" b="1" dirty="0">
                <a:latin typeface="微软雅黑" panose="020B0503020204020204" pitchFamily="34" charset="-122"/>
                <a:ea typeface="微软雅黑" panose="020B0503020204020204" pitchFamily="34" charset="-122"/>
              </a:rPr>
              <a:t>music, textual descriptions</a:t>
            </a:r>
            <a:r>
              <a:rPr lang="en-US" sz="1600" dirty="0">
                <a:latin typeface="微软雅黑" panose="020B0503020204020204" pitchFamily="34" charset="-122"/>
                <a:ea typeface="微软雅黑" panose="020B0503020204020204" pitchFamily="34" charset="-122"/>
              </a:rPr>
              <a:t>, and motion data presents a challenge in achieving accurate fine-grained textual control. To address this limitation, we present </a:t>
            </a:r>
            <a:r>
              <a:rPr lang="en-US" sz="1600" dirty="0" err="1">
                <a:latin typeface="微软雅黑" panose="020B0503020204020204" pitchFamily="34" charset="-122"/>
                <a:ea typeface="微软雅黑" panose="020B0503020204020204" pitchFamily="34" charset="-122"/>
              </a:rPr>
              <a:t>MotivDance</a:t>
            </a:r>
            <a:r>
              <a:rPr lang="en-US" sz="1600" dirty="0">
                <a:latin typeface="微软雅黑" panose="020B0503020204020204" pitchFamily="34" charset="-122"/>
                <a:ea typeface="微软雅黑" panose="020B0503020204020204" pitchFamily="34" charset="-122"/>
              </a:rPr>
              <a:t>, a novel framework integrating </a:t>
            </a:r>
            <a:r>
              <a:rPr lang="en-US" sz="1600" b="1" dirty="0">
                <a:latin typeface="微软雅黑" panose="020B0503020204020204" pitchFamily="34" charset="-122"/>
                <a:ea typeface="微软雅黑" panose="020B0503020204020204" pitchFamily="34" charset="-122"/>
              </a:rPr>
              <a:t>fine-grained textual guidance with musi</a:t>
            </a:r>
            <a:r>
              <a:rPr lang="en-US" sz="1600" dirty="0">
                <a:latin typeface="微软雅黑" panose="020B0503020204020204" pitchFamily="34" charset="-122"/>
                <a:ea typeface="微软雅黑" panose="020B0503020204020204" pitchFamily="34" charset="-122"/>
              </a:rPr>
              <a:t>c to synthesize semantically coherent dance sequences.</a:t>
            </a:r>
            <a:endParaRPr lang="en-US" sz="14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3811419" y="1041453"/>
            <a:ext cx="6794616" cy="514020"/>
          </a:xfrm>
          <a:prstGeom prst="rect">
            <a:avLst/>
          </a:prstGeom>
          <a:noFill/>
        </p:spPr>
        <p:txBody>
          <a:bodyPr wrap="square" rtlCol="0" anchor="t">
            <a:noAutofit/>
          </a:bodyPr>
          <a:lstStyle/>
          <a:p>
            <a:pPr algn="ctr"/>
            <a:r>
              <a:rPr lang="en-US" altLang="zh-CN" b="1" dirty="0" err="1">
                <a:latin typeface="+mj-ea"/>
                <a:ea typeface="+mj-ea"/>
                <a:cs typeface="Arial" panose="020B0604020202020204" pitchFamily="34" charset="0"/>
              </a:rPr>
              <a:t>Chenguang</a:t>
            </a:r>
            <a:r>
              <a:rPr lang="en-US" altLang="zh-CN" b="1" dirty="0">
                <a:latin typeface="+mj-ea"/>
                <a:ea typeface="+mj-ea"/>
                <a:cs typeface="Arial" panose="020B0604020202020204" pitchFamily="34" charset="0"/>
              </a:rPr>
              <a:t> Li</a:t>
            </a:r>
            <a:r>
              <a:rPr lang="en-US" altLang="zh-CN" b="1" baseline="50000" dirty="0">
                <a:latin typeface="+mj-ea"/>
                <a:ea typeface="+mj-ea"/>
                <a:cs typeface="Arial" panose="020B0604020202020204" pitchFamily="34" charset="0"/>
              </a:rPr>
              <a:t>1,2,3</a:t>
            </a:r>
            <a:r>
              <a:rPr lang="en-US" altLang="zh-CN" b="1" dirty="0">
                <a:latin typeface="+mj-ea"/>
                <a:ea typeface="+mj-ea"/>
                <a:cs typeface="Arial" panose="020B0604020202020204" pitchFamily="34" charset="0"/>
              </a:rPr>
              <a:t>, </a:t>
            </a:r>
            <a:r>
              <a:rPr lang="en-US" altLang="zh-CN" b="1" dirty="0" err="1">
                <a:latin typeface="+mj-ea"/>
                <a:ea typeface="+mj-ea"/>
                <a:cs typeface="Arial" panose="020B0604020202020204" pitchFamily="34" charset="0"/>
              </a:rPr>
              <a:t>Yhu</a:t>
            </a:r>
            <a:r>
              <a:rPr lang="en-US" altLang="zh-CN" b="1" dirty="0">
                <a:latin typeface="+mj-ea"/>
                <a:ea typeface="+mj-ea"/>
                <a:cs typeface="Arial" panose="020B0604020202020204" pitchFamily="34" charset="0"/>
              </a:rPr>
              <a:t>-Hui Wen</a:t>
            </a:r>
            <a:r>
              <a:rPr lang="en-US" altLang="zh-CN" b="1" baseline="50000" dirty="0">
                <a:latin typeface="+mj-ea"/>
                <a:ea typeface="+mj-ea"/>
                <a:cs typeface="Arial" panose="020B0604020202020204" pitchFamily="34" charset="0"/>
              </a:rPr>
              <a:t>2,3*</a:t>
            </a:r>
            <a:r>
              <a:rPr lang="en-US" altLang="zh-CN" b="1" dirty="0">
                <a:latin typeface="+mj-ea"/>
                <a:ea typeface="+mj-ea"/>
                <a:cs typeface="Arial" panose="020B0604020202020204" pitchFamily="34" charset="0"/>
              </a:rPr>
              <a:t>, </a:t>
            </a:r>
            <a:r>
              <a:rPr lang="en-US" altLang="zh-CN" b="1" dirty="0" err="1">
                <a:latin typeface="+mj-ea"/>
                <a:ea typeface="+mj-ea"/>
                <a:cs typeface="Arial" panose="020B0604020202020204" pitchFamily="34" charset="0"/>
              </a:rPr>
              <a:t>Liping</a:t>
            </a:r>
            <a:r>
              <a:rPr lang="en-US" altLang="zh-CN" b="1" dirty="0">
                <a:latin typeface="+mj-ea"/>
                <a:ea typeface="+mj-ea"/>
                <a:cs typeface="Arial" panose="020B0604020202020204" pitchFamily="34" charset="0"/>
              </a:rPr>
              <a:t> Jing</a:t>
            </a:r>
            <a:r>
              <a:rPr lang="en-US" altLang="zh-CN" b="1" baseline="50000" dirty="0">
                <a:latin typeface="+mj-ea"/>
                <a:ea typeface="+mj-ea"/>
                <a:cs typeface="Arial" panose="020B0604020202020204" pitchFamily="34" charset="0"/>
              </a:rPr>
              <a:t>1,2,3</a:t>
            </a:r>
            <a:endParaRPr lang="en-US" altLang="zh-CN" b="1" dirty="0">
              <a:latin typeface="+mj-ea"/>
              <a:ea typeface="+mj-ea"/>
              <a:cs typeface="Arial" panose="020B0604020202020204" pitchFamily="34" charset="0"/>
            </a:endParaRPr>
          </a:p>
          <a:p>
            <a:pPr algn="ctr"/>
            <a:r>
              <a:rPr lang="en-US" altLang="zh-CN" i="1" u="sng" dirty="0">
                <a:solidFill>
                  <a:srgbClr val="7030A0"/>
                </a:solidFill>
                <a:latin typeface="Times New Roman" panose="02020603050405020304" pitchFamily="18" charset="0"/>
                <a:ea typeface="+mj-ea"/>
                <a:cs typeface="Times New Roman" panose="02020603050405020304" pitchFamily="18" charset="0"/>
              </a:rPr>
              <a:t>https://dsdf783.github.io/MotivDance/</a:t>
            </a:r>
          </a:p>
        </p:txBody>
      </p:sp>
      <p:sp>
        <p:nvSpPr>
          <p:cNvPr id="7" name="文本框 6"/>
          <p:cNvSpPr txBox="1"/>
          <p:nvPr/>
        </p:nvSpPr>
        <p:spPr>
          <a:xfrm>
            <a:off x="3012751" y="1577472"/>
            <a:ext cx="8422005" cy="685800"/>
          </a:xfrm>
          <a:prstGeom prst="rect">
            <a:avLst/>
          </a:prstGeom>
          <a:noFill/>
        </p:spPr>
        <p:txBody>
          <a:bodyPr wrap="square" rtlCol="0" anchor="t">
            <a:noAutofit/>
          </a:bodyPr>
          <a:lstStyle/>
          <a:p>
            <a:pPr algn="ctr"/>
            <a:r>
              <a:rPr lang="en-US" altLang="zh-CN" sz="1600" b="1" i="1" baseline="30000" dirty="0">
                <a:latin typeface="Times New Roman" panose="02020603050405020304" charset="0"/>
                <a:cs typeface="Times New Roman" panose="02020603050405020304" charset="0"/>
              </a:rPr>
              <a:t>1</a:t>
            </a:r>
            <a:r>
              <a:rPr lang="en-US" altLang="zh-CN" sz="1600" b="1" i="1" dirty="0">
                <a:latin typeface="Times New Roman" panose="02020603050405020304" charset="0"/>
                <a:cs typeface="Times New Roman" panose="02020603050405020304" charset="0"/>
              </a:rPr>
              <a:t>State Key Laboratory of Advanced Rail Autonomous Operation, Beijing, China</a:t>
            </a:r>
          </a:p>
          <a:p>
            <a:pPr algn="ctr"/>
            <a:r>
              <a:rPr lang="en-US" altLang="zh-CN" sz="1600" b="1" i="1" baseline="30000" dirty="0">
                <a:latin typeface="Times New Roman" panose="02020603050405020304" charset="0"/>
                <a:cs typeface="Times New Roman" panose="02020603050405020304" charset="0"/>
              </a:rPr>
              <a:t>2</a:t>
            </a:r>
            <a:r>
              <a:rPr lang="en-US" altLang="zh-CN" sz="1600" b="1" i="1" dirty="0">
                <a:latin typeface="Times New Roman" panose="02020603050405020304" charset="0"/>
                <a:cs typeface="Times New Roman" panose="02020603050405020304" charset="0"/>
              </a:rPr>
              <a:t>School of Computer Science and Technology, Beijing </a:t>
            </a:r>
            <a:r>
              <a:rPr lang="en-US" altLang="zh-CN" sz="1600" b="1" i="1" dirty="0" err="1">
                <a:latin typeface="Times New Roman" panose="02020603050405020304" charset="0"/>
                <a:cs typeface="Times New Roman" panose="02020603050405020304" charset="0"/>
              </a:rPr>
              <a:t>Jiaotong</a:t>
            </a:r>
            <a:r>
              <a:rPr lang="en-US" altLang="zh-CN" sz="1600" b="1" i="1" dirty="0">
                <a:latin typeface="Times New Roman" panose="02020603050405020304" charset="0"/>
                <a:cs typeface="Times New Roman" panose="02020603050405020304" charset="0"/>
              </a:rPr>
              <a:t> University, Beijing, China</a:t>
            </a:r>
          </a:p>
          <a:p>
            <a:pPr algn="ctr"/>
            <a:r>
              <a:rPr lang="en-US" altLang="zh-CN" sz="1600" b="1" i="1" baseline="30000" dirty="0">
                <a:latin typeface="Times New Roman" panose="02020603050405020304" charset="0"/>
                <a:cs typeface="Times New Roman" panose="02020603050405020304" charset="0"/>
              </a:rPr>
              <a:t>3</a:t>
            </a:r>
            <a:r>
              <a:rPr lang="en-US" altLang="zh-CN" sz="1600" b="1" i="1" dirty="0">
                <a:latin typeface="Times New Roman" panose="02020603050405020304" charset="0"/>
                <a:cs typeface="Times New Roman" panose="02020603050405020304" charset="0"/>
              </a:rPr>
              <a:t>Beijing Key Laboratory of Traffic Data Mining and Embodied Intelligence, Beijing, China</a:t>
            </a:r>
            <a:br>
              <a:rPr lang="en-US" altLang="zh-CN" sz="1600" b="1" i="1" dirty="0">
                <a:latin typeface="Times New Roman" panose="02020603050405020304" charset="0"/>
                <a:cs typeface="Times New Roman" panose="02020603050405020304" charset="0"/>
              </a:rPr>
            </a:br>
            <a:endParaRPr lang="en-US" altLang="zh-CN" sz="1600" b="1" i="1" dirty="0">
              <a:latin typeface="Times New Roman" panose="02020603050405020304" charset="0"/>
              <a:cs typeface="Times New Roman" panose="02020603050405020304" charset="0"/>
            </a:endParaRPr>
          </a:p>
        </p:txBody>
      </p:sp>
      <p:cxnSp>
        <p:nvCxnSpPr>
          <p:cNvPr id="46" name="Straight Connector 8"/>
          <p:cNvCxnSpPr/>
          <p:nvPr/>
        </p:nvCxnSpPr>
        <p:spPr bwMode="auto">
          <a:xfrm>
            <a:off x="343925" y="5277373"/>
            <a:ext cx="13848080" cy="1"/>
          </a:xfrm>
          <a:prstGeom prst="line">
            <a:avLst/>
          </a:prstGeom>
          <a:noFill/>
          <a:ln w="25400" cap="flat" cmpd="sng" algn="ctr">
            <a:solidFill>
              <a:schemeClr val="tx1"/>
            </a:solidFill>
            <a:prstDash val="dash"/>
            <a:round/>
            <a:headEnd type="none" w="med" len="med"/>
            <a:tailEnd type="none" w="med" len="med"/>
          </a:ln>
          <a:effectLst/>
        </p:spPr>
      </p:cxnSp>
      <p:sp>
        <p:nvSpPr>
          <p:cNvPr id="126" name="文本框 125"/>
          <p:cNvSpPr txBox="1"/>
          <p:nvPr/>
        </p:nvSpPr>
        <p:spPr>
          <a:xfrm>
            <a:off x="7430216" y="5409431"/>
            <a:ext cx="6388343" cy="338554"/>
          </a:xfrm>
          <a:prstGeom prst="rect">
            <a:avLst/>
          </a:prstGeom>
          <a:noFill/>
        </p:spPr>
        <p:txBody>
          <a:bodyPr wrap="square" rtlCol="0">
            <a:spAutoFit/>
          </a:bodyPr>
          <a:lstStyle/>
          <a:p>
            <a:r>
              <a:rPr lang="en-US" altLang="zh-CN" sz="1600" b="1" u="sng" dirty="0">
                <a:latin typeface="微软雅黑" panose="020B0503020204020204" pitchFamily="34" charset="-122"/>
                <a:ea typeface="微软雅黑" panose="020B0503020204020204" pitchFamily="34" charset="-122"/>
              </a:rPr>
              <a:t>Main Contributions: </a:t>
            </a:r>
          </a:p>
        </p:txBody>
      </p:sp>
      <p:sp>
        <p:nvSpPr>
          <p:cNvPr id="128" name="矩形 127"/>
          <p:cNvSpPr/>
          <p:nvPr/>
        </p:nvSpPr>
        <p:spPr>
          <a:xfrm>
            <a:off x="137160" y="9494517"/>
            <a:ext cx="7147272" cy="5861179"/>
          </a:xfrm>
          <a:prstGeom prst="rect">
            <a:avLst/>
          </a:prstGeom>
          <a:ln w="6350">
            <a:prstDash val="sysDot"/>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dirty="0"/>
          </a:p>
        </p:txBody>
      </p:sp>
      <p:sp>
        <p:nvSpPr>
          <p:cNvPr id="129" name="文本框 128"/>
          <p:cNvSpPr txBox="1"/>
          <p:nvPr/>
        </p:nvSpPr>
        <p:spPr>
          <a:xfrm>
            <a:off x="138444" y="15440534"/>
            <a:ext cx="7145988" cy="307777"/>
          </a:xfrm>
          <a:prstGeom prst="rect">
            <a:avLst/>
          </a:prstGeom>
          <a:noFill/>
        </p:spPr>
        <p:txBody>
          <a:bodyPr wrap="square" rtlCol="0" anchor="t">
            <a:spAutoFit/>
          </a:bodyPr>
          <a:lstStyle/>
          <a:p>
            <a:r>
              <a:rPr lang="en-US" altLang="zh-CN" sz="1400" b="1" dirty="0">
                <a:latin typeface="微软雅黑" panose="020B0503020204020204" pitchFamily="34" charset="-122"/>
                <a:ea typeface="微软雅黑" panose="020B0503020204020204" pitchFamily="34" charset="-122"/>
                <a:sym typeface="+mn-ea"/>
              </a:rPr>
              <a:t>Quantitative Comparison on Benchmark.</a:t>
            </a:r>
          </a:p>
        </p:txBody>
      </p:sp>
      <p:sp>
        <p:nvSpPr>
          <p:cNvPr id="135" name="矩形 134"/>
          <p:cNvSpPr/>
          <p:nvPr/>
        </p:nvSpPr>
        <p:spPr>
          <a:xfrm>
            <a:off x="0" y="21173601"/>
            <a:ext cx="14400530" cy="422299"/>
          </a:xfrm>
          <a:prstGeom prst="rect">
            <a:avLst/>
          </a:prstGeom>
          <a:solidFill>
            <a:srgbClr val="BCBAB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9" name="文本框 18"/>
          <p:cNvSpPr txBox="1"/>
          <p:nvPr/>
        </p:nvSpPr>
        <p:spPr>
          <a:xfrm>
            <a:off x="137160" y="9485298"/>
            <a:ext cx="7145988" cy="461665"/>
          </a:xfrm>
          <a:prstGeom prst="rect">
            <a:avLst/>
          </a:prstGeom>
          <a:noFill/>
        </p:spPr>
        <p:txBody>
          <a:bodyPr wrap="square" rtlCol="0">
            <a:spAutoFit/>
          </a:bodyPr>
          <a:lstStyle/>
          <a:p>
            <a:pPr algn="ctr"/>
            <a:r>
              <a:rPr lang="en-US" altLang="zh-CN" sz="2400" b="1" dirty="0">
                <a:solidFill>
                  <a:schemeClr val="accent1">
                    <a:lumMod val="75000"/>
                  </a:schemeClr>
                </a:solidFill>
              </a:rPr>
              <a:t>Adaptive Keyframe Locator</a:t>
            </a:r>
            <a:endParaRPr lang="zh-CN" altLang="en-US" sz="2400" b="1" dirty="0">
              <a:solidFill>
                <a:schemeClr val="accent1">
                  <a:lumMod val="75000"/>
                </a:schemeClr>
              </a:solidFill>
            </a:endParaRPr>
          </a:p>
        </p:txBody>
      </p:sp>
      <p:sp>
        <p:nvSpPr>
          <p:cNvPr id="31" name="文本框 30"/>
          <p:cNvSpPr txBox="1"/>
          <p:nvPr/>
        </p:nvSpPr>
        <p:spPr>
          <a:xfrm>
            <a:off x="7395294" y="9492048"/>
            <a:ext cx="6896956" cy="461665"/>
          </a:xfrm>
          <a:prstGeom prst="rect">
            <a:avLst/>
          </a:prstGeom>
          <a:noFill/>
        </p:spPr>
        <p:txBody>
          <a:bodyPr wrap="square" rtlCol="0">
            <a:spAutoFit/>
          </a:bodyPr>
          <a:lstStyle>
            <a:defPPr>
              <a:defRPr lang="zh-CN"/>
            </a:defPPr>
            <a:lvl1pPr>
              <a:defRPr>
                <a:latin typeface="+mn-ea"/>
              </a:defRPr>
            </a:lvl1pPr>
          </a:lstStyle>
          <a:p>
            <a:pPr algn="ctr"/>
            <a:r>
              <a:rPr lang="en-US" altLang="zh-CN" sz="2400" b="1" dirty="0">
                <a:solidFill>
                  <a:schemeClr val="accent1">
                    <a:lumMod val="75000"/>
                  </a:schemeClr>
                </a:solidFill>
                <a:latin typeface="+mn-lt"/>
              </a:rPr>
              <a:t>Dance Motion In-Between Diffusion Model</a:t>
            </a:r>
            <a:endParaRPr lang="zh-CN" altLang="en-US" sz="2400" b="1" dirty="0">
              <a:solidFill>
                <a:schemeClr val="accent1">
                  <a:lumMod val="75000"/>
                </a:schemeClr>
              </a:solidFill>
              <a:latin typeface="+mn-lt"/>
            </a:endParaRPr>
          </a:p>
        </p:txBody>
      </p:sp>
      <p:sp>
        <p:nvSpPr>
          <p:cNvPr id="35" name="文本框 34"/>
          <p:cNvSpPr txBox="1"/>
          <p:nvPr/>
        </p:nvSpPr>
        <p:spPr>
          <a:xfrm>
            <a:off x="7536002" y="5791543"/>
            <a:ext cx="6635171" cy="3262432"/>
          </a:xfrm>
          <a:prstGeom prst="rect">
            <a:avLst/>
          </a:prstGeom>
          <a:noFill/>
        </p:spPr>
        <p:txBody>
          <a:bodyPr wrap="square" rtlCol="0">
            <a:spAutoFit/>
          </a:bodyPr>
          <a:lstStyle/>
          <a:p>
            <a:pPr marL="285750" indent="-285750" algn="just">
              <a:buFont typeface="Wingdings" panose="05000000000000000000" pitchFamily="2" charset="2"/>
              <a:buChar char="Ø"/>
            </a:pPr>
            <a:r>
              <a:rPr lang="en-US" altLang="zh-CN" sz="1400" b="1" dirty="0">
                <a:solidFill>
                  <a:schemeClr val="accent1"/>
                </a:solidFill>
                <a:latin typeface="微软雅黑" panose="020B0503020204020204" pitchFamily="34" charset="-122"/>
                <a:ea typeface="微软雅黑" panose="020B0503020204020204" pitchFamily="34" charset="-122"/>
              </a:rPr>
              <a:t>Introduce motivation choreography into the AI dance generation.                              </a:t>
            </a:r>
          </a:p>
          <a:p>
            <a:pPr marL="285750" indent="-285750" algn="just">
              <a:buFont typeface="Wingdings" panose="05000000000000000000" pitchFamily="2" charset="2"/>
              <a:buChar char="Ø"/>
            </a:pP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We introduce the motivation choreography into the AI dance generation, proposing a novel framework that integrates fine-grained, text-guided key poses (i.e., motivations) generation with a motion in-</a:t>
            </a:r>
            <a:r>
              <a:rPr lang="en-US" altLang="zh-CN" sz="1300" dirty="0" err="1">
                <a:solidFill>
                  <a:schemeClr val="tx1">
                    <a:lumMod val="75000"/>
                    <a:lumOff val="25000"/>
                  </a:schemeClr>
                </a:solidFill>
                <a:latin typeface="微软雅黑" panose="020B0503020204020204" pitchFamily="34" charset="-122"/>
                <a:ea typeface="微软雅黑" panose="020B0503020204020204" pitchFamily="34" charset="-122"/>
              </a:rPr>
              <a:t>betweening</a:t>
            </a: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 diffusion model to synthesize structurally coherent and semantically meaningful dance sequences.</a:t>
            </a:r>
            <a:endParaRPr lang="en-US" altLang="zh-CN" sz="8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en-US" altLang="zh-CN" sz="1400" b="1" dirty="0">
                <a:solidFill>
                  <a:schemeClr val="accent1"/>
                </a:solidFill>
                <a:latin typeface="微软雅黑" panose="020B0503020204020204" pitchFamily="34" charset="-122"/>
                <a:ea typeface="微软雅黑" panose="020B0503020204020204" pitchFamily="34" charset="-122"/>
              </a:rPr>
              <a:t>Design an Adaptive Keyframe Locator.</a:t>
            </a:r>
            <a:r>
              <a:rPr lang="zh-CN" altLang="en-US" sz="1400" b="1" dirty="0">
                <a:solidFill>
                  <a:schemeClr val="accent1"/>
                </a:solidFill>
                <a:latin typeface="微软雅黑" panose="020B0503020204020204" pitchFamily="34" charset="-122"/>
                <a:ea typeface="微软雅黑" panose="020B0503020204020204" pitchFamily="34" charset="-122"/>
              </a:rPr>
              <a:t>                                                    </a:t>
            </a:r>
            <a:endParaRPr lang="en-US" altLang="zh-CN" sz="1400" b="1" dirty="0">
              <a:solidFill>
                <a:schemeClr val="accent1"/>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We design an Adaptive Keyframe Locator that integrates key poses with music by incorporating an adapter module to align the semantic latent spaces of music and motion. This locator dynamically identifies the optimal key pose positions by computing semantic similarity between motion and music features, along with beat perception.</a:t>
            </a:r>
          </a:p>
          <a:p>
            <a:pPr marL="285750" indent="-285750">
              <a:buFont typeface="Wingdings" panose="05000000000000000000" pitchFamily="2" charset="2"/>
              <a:buChar char="Ø"/>
            </a:pPr>
            <a:endParaRPr lang="en-US" altLang="zh-CN" sz="800" dirty="0">
              <a:latin typeface="微软雅黑" panose="020B0503020204020204" pitchFamily="34" charset="-122"/>
              <a:ea typeface="微软雅黑" panose="020B0503020204020204" pitchFamily="34" charset="-122"/>
            </a:endParaRPr>
          </a:p>
          <a:p>
            <a:pPr marL="285750" indent="-285750">
              <a:buFont typeface="Wingdings" panose="05000000000000000000" charset="0"/>
              <a:buChar char="Ø"/>
            </a:pPr>
            <a:r>
              <a:rPr lang="en-US" altLang="zh-CN" sz="1400" b="1" dirty="0">
                <a:solidFill>
                  <a:schemeClr val="accent1"/>
                </a:solidFill>
                <a:latin typeface="微软雅黑" panose="020B0503020204020204" pitchFamily="34" charset="-122"/>
                <a:ea typeface="微软雅黑" panose="020B0503020204020204" pitchFamily="34" charset="-122"/>
              </a:rPr>
              <a:t>Propose a dance motion in-</a:t>
            </a:r>
            <a:r>
              <a:rPr lang="en-US" altLang="zh-CN" sz="1400" b="1" dirty="0" err="1">
                <a:solidFill>
                  <a:schemeClr val="accent1"/>
                </a:solidFill>
                <a:latin typeface="微软雅黑" panose="020B0503020204020204" pitchFamily="34" charset="-122"/>
                <a:ea typeface="微软雅黑" panose="020B0503020204020204" pitchFamily="34" charset="-122"/>
              </a:rPr>
              <a:t>betweening</a:t>
            </a:r>
            <a:r>
              <a:rPr lang="en-US" altLang="zh-CN" sz="1400" b="1" dirty="0">
                <a:solidFill>
                  <a:schemeClr val="accent1"/>
                </a:solidFill>
                <a:latin typeface="微软雅黑" panose="020B0503020204020204" pitchFamily="34" charset="-122"/>
                <a:ea typeface="微软雅黑" panose="020B0503020204020204" pitchFamily="34" charset="-122"/>
              </a:rPr>
              <a:t> diffusion framework. </a:t>
            </a:r>
            <a:r>
              <a:rPr lang="en-US" altLang="zh-CN" sz="1300" b="1" dirty="0">
                <a:solidFill>
                  <a:schemeClr val="tx1">
                    <a:lumMod val="75000"/>
                    <a:lumOff val="25000"/>
                  </a:schemeClr>
                </a:solidFill>
                <a:latin typeface="微软雅黑" panose="020B0503020204020204" pitchFamily="34" charset="-122"/>
                <a:ea typeface="微软雅黑" panose="020B0503020204020204" pitchFamily="34" charset="-122"/>
              </a:rPr>
              <a:t>            </a:t>
            </a:r>
          </a:p>
          <a:p>
            <a:pPr marL="285750" indent="-285750" algn="just">
              <a:buFont typeface="Wingdings" panose="05000000000000000000" charset="0"/>
              <a:buChar char="Ø"/>
            </a:pP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We propose a dance motion in-</a:t>
            </a:r>
            <a:r>
              <a:rPr lang="en-US" altLang="zh-CN" sz="1300" dirty="0" err="1">
                <a:solidFill>
                  <a:schemeClr val="tx1">
                    <a:lumMod val="75000"/>
                    <a:lumOff val="25000"/>
                  </a:schemeClr>
                </a:solidFill>
                <a:latin typeface="微软雅黑" panose="020B0503020204020204" pitchFamily="34" charset="-122"/>
                <a:ea typeface="微软雅黑" panose="020B0503020204020204" pitchFamily="34" charset="-122"/>
              </a:rPr>
              <a:t>betweening</a:t>
            </a: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 diffusion framework employing a Transformer-based U-Net architecture decoder.</a:t>
            </a:r>
            <a:endParaRPr lang="zh-CN" altLang="en-US" sz="13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199921" y="9896168"/>
            <a:ext cx="7067428" cy="5693866"/>
          </a:xfrm>
          <a:prstGeom prst="rect">
            <a:avLst/>
          </a:prstGeom>
          <a:noFill/>
        </p:spPr>
        <p:txBody>
          <a:bodyPr wrap="square" rtlCol="0" anchor="t">
            <a:spAutoFit/>
          </a:bodyPr>
          <a:lstStyle/>
          <a:p>
            <a:pPr algn="just"/>
            <a:r>
              <a:rPr lang="en-US" altLang="zh-CN" sz="1300" dirty="0">
                <a:latin typeface="微软雅黑" panose="020B0503020204020204" pitchFamily="34" charset="-122"/>
                <a:ea typeface="微软雅黑" panose="020B0503020204020204" pitchFamily="34" charset="-122"/>
                <a:sym typeface="+mn-ea"/>
              </a:rPr>
              <a:t>      In motivation choreography, dance exhibits isomorphism with the semantic structure of the music. This relationship necessitates temporal coupling between dance motivations and the musical structure, requiring semantically and beat-aware key pose placement. </a:t>
            </a:r>
            <a:r>
              <a:rPr lang="en-US" altLang="zh-CN" sz="1300" b="1" dirty="0">
                <a:latin typeface="微软雅黑" panose="020B0503020204020204" pitchFamily="34" charset="-122"/>
                <a:ea typeface="微软雅黑" panose="020B0503020204020204" pitchFamily="34" charset="-122"/>
                <a:sym typeface="+mn-ea"/>
              </a:rPr>
              <a:t>The proposed module comprises:</a:t>
            </a:r>
          </a:p>
          <a:p>
            <a:pPr algn="just"/>
            <a:r>
              <a:rPr lang="en-US" altLang="zh-CN" sz="1300" dirty="0">
                <a:latin typeface="微软雅黑" panose="020B0503020204020204" pitchFamily="34" charset="-122"/>
                <a:ea typeface="微软雅黑" panose="020B0503020204020204" pitchFamily="34" charset="-122"/>
                <a:sym typeface="+mn-ea"/>
              </a:rPr>
              <a:t> (1) a Wav2CLIP Adapter transforming music features;</a:t>
            </a:r>
          </a:p>
          <a:p>
            <a:pPr algn="just"/>
            <a:r>
              <a:rPr lang="en-US" altLang="zh-CN" sz="1300" dirty="0">
                <a:latin typeface="微软雅黑" panose="020B0503020204020204" pitchFamily="34" charset="-122"/>
                <a:ea typeface="微软雅黑" panose="020B0503020204020204" pitchFamily="34" charset="-122"/>
                <a:sym typeface="+mn-ea"/>
              </a:rPr>
              <a:t> (2) Semantic Contrastive Alignment bridging the latent spaces of </a:t>
            </a:r>
            <a:r>
              <a:rPr lang="en-US" altLang="zh-CN" sz="1300" dirty="0" err="1">
                <a:latin typeface="微软雅黑" panose="020B0503020204020204" pitchFamily="34" charset="-122"/>
                <a:ea typeface="微软雅黑" panose="020B0503020204020204" pitchFamily="34" charset="-122"/>
                <a:sym typeface="+mn-ea"/>
              </a:rPr>
              <a:t>MotionCLIP</a:t>
            </a:r>
            <a:r>
              <a:rPr lang="en-US" altLang="zh-CN" sz="1300" dirty="0">
                <a:latin typeface="微软雅黑" panose="020B0503020204020204" pitchFamily="34" charset="-122"/>
                <a:ea typeface="微软雅黑" panose="020B0503020204020204" pitchFamily="34" charset="-122"/>
                <a:sym typeface="+mn-ea"/>
              </a:rPr>
              <a:t> and adapted music embeddings;</a:t>
            </a:r>
          </a:p>
          <a:p>
            <a:pPr algn="just"/>
            <a:r>
              <a:rPr lang="en-US" altLang="zh-CN" sz="1300" dirty="0">
                <a:latin typeface="微软雅黑" panose="020B0503020204020204" pitchFamily="34" charset="-122"/>
                <a:ea typeface="微软雅黑" panose="020B0503020204020204" pitchFamily="34" charset="-122"/>
                <a:sym typeface="+mn-ea"/>
              </a:rPr>
              <a:t> (3) Semantically Beat-Aware Keyframe Insertion, positioning key poses at the highest semantic-similarity music beat frame.</a:t>
            </a:r>
          </a:p>
          <a:p>
            <a:pPr algn="just"/>
            <a:endParaRPr lang="en-US" altLang="zh-CN" sz="1300" dirty="0">
              <a:latin typeface="微软雅黑" panose="020B0503020204020204" pitchFamily="34" charset="-122"/>
              <a:ea typeface="微软雅黑" panose="020B0503020204020204" pitchFamily="34" charset="-122"/>
              <a:sym typeface="+mn-ea"/>
            </a:endParaRPr>
          </a:p>
          <a:p>
            <a:pPr algn="just"/>
            <a:endParaRPr lang="en-US" altLang="zh-CN" sz="1300" dirty="0">
              <a:latin typeface="微软雅黑" panose="020B0503020204020204" pitchFamily="34" charset="-122"/>
              <a:ea typeface="微软雅黑" panose="020B0503020204020204" pitchFamily="34" charset="-122"/>
              <a:sym typeface="+mn-ea"/>
            </a:endParaRPr>
          </a:p>
          <a:p>
            <a:pPr algn="just"/>
            <a:endParaRPr lang="en-US" altLang="zh-CN" sz="1300" dirty="0">
              <a:latin typeface="微软雅黑" panose="020B0503020204020204" pitchFamily="34" charset="-122"/>
              <a:ea typeface="微软雅黑" panose="020B0503020204020204" pitchFamily="34" charset="-122"/>
              <a:sym typeface="+mn-ea"/>
            </a:endParaRPr>
          </a:p>
          <a:p>
            <a:pPr algn="just"/>
            <a:endParaRPr lang="en-US" altLang="zh-CN" sz="1300" dirty="0">
              <a:latin typeface="微软雅黑" panose="020B0503020204020204" pitchFamily="34" charset="-122"/>
              <a:ea typeface="微软雅黑" panose="020B0503020204020204" pitchFamily="34" charset="-122"/>
              <a:sym typeface="+mn-ea"/>
            </a:endParaRPr>
          </a:p>
          <a:p>
            <a:pPr algn="just"/>
            <a:endParaRPr lang="en-US" altLang="zh-CN" sz="1300" dirty="0">
              <a:latin typeface="微软雅黑" panose="020B0503020204020204" pitchFamily="34" charset="-122"/>
              <a:ea typeface="微软雅黑" panose="020B0503020204020204" pitchFamily="34" charset="-122"/>
              <a:sym typeface="+mn-ea"/>
            </a:endParaRPr>
          </a:p>
          <a:p>
            <a:pPr algn="just"/>
            <a:endParaRPr lang="en-US" altLang="zh-CN" sz="1300" dirty="0">
              <a:latin typeface="微软雅黑" panose="020B0503020204020204" pitchFamily="34" charset="-122"/>
              <a:ea typeface="微软雅黑" panose="020B0503020204020204" pitchFamily="34" charset="-122"/>
              <a:sym typeface="+mn-ea"/>
            </a:endParaRPr>
          </a:p>
          <a:p>
            <a:pPr algn="just"/>
            <a:endParaRPr lang="en-US" altLang="zh-CN" sz="1300" dirty="0">
              <a:latin typeface="微软雅黑" panose="020B0503020204020204" pitchFamily="34" charset="-122"/>
              <a:ea typeface="微软雅黑" panose="020B0503020204020204" pitchFamily="34" charset="-122"/>
              <a:sym typeface="+mn-ea"/>
            </a:endParaRPr>
          </a:p>
          <a:p>
            <a:pPr algn="just"/>
            <a:endParaRPr lang="en-US" altLang="zh-CN" sz="1300" dirty="0">
              <a:latin typeface="微软雅黑" panose="020B0503020204020204" pitchFamily="34" charset="-122"/>
              <a:ea typeface="微软雅黑" panose="020B0503020204020204" pitchFamily="34" charset="-122"/>
              <a:sym typeface="+mn-ea"/>
            </a:endParaRPr>
          </a:p>
          <a:p>
            <a:pPr algn="just"/>
            <a:endParaRPr lang="en-US" altLang="zh-CN" sz="1300" dirty="0">
              <a:latin typeface="微软雅黑" panose="020B0503020204020204" pitchFamily="34" charset="-122"/>
              <a:ea typeface="微软雅黑" panose="020B0503020204020204" pitchFamily="34" charset="-122"/>
              <a:sym typeface="+mn-ea"/>
            </a:endParaRPr>
          </a:p>
          <a:p>
            <a:pPr algn="just"/>
            <a:endParaRPr lang="en-US" altLang="zh-CN" sz="1300" b="1" dirty="0">
              <a:latin typeface="微软雅黑" panose="020B0503020204020204" pitchFamily="34" charset="-122"/>
              <a:ea typeface="微软雅黑" panose="020B0503020204020204" pitchFamily="34" charset="-122"/>
              <a:sym typeface="+mn-ea"/>
            </a:endParaRPr>
          </a:p>
          <a:p>
            <a:pPr algn="just"/>
            <a:r>
              <a:rPr lang="en-US" altLang="zh-CN" sz="1300" b="1" dirty="0">
                <a:latin typeface="微软雅黑" panose="020B0503020204020204" pitchFamily="34" charset="-122"/>
                <a:ea typeface="微软雅黑" panose="020B0503020204020204" pitchFamily="34" charset="-122"/>
                <a:sym typeface="+mn-ea"/>
              </a:rPr>
              <a:t>Semantic Contrastive Alignment:               </a:t>
            </a:r>
          </a:p>
          <a:p>
            <a:pPr algn="just"/>
            <a:endParaRPr lang="en-US" altLang="zh-CN" sz="1300" b="1" dirty="0">
              <a:latin typeface="微软雅黑" panose="020B0503020204020204" pitchFamily="34" charset="-122"/>
              <a:ea typeface="微软雅黑" panose="020B0503020204020204" pitchFamily="34" charset="-122"/>
              <a:sym typeface="+mn-ea"/>
            </a:endParaRPr>
          </a:p>
          <a:p>
            <a:pPr algn="just"/>
            <a:r>
              <a:rPr lang="en-US" altLang="zh-CN" sz="1300" b="1" dirty="0">
                <a:latin typeface="微软雅黑" panose="020B0503020204020204" pitchFamily="34" charset="-122"/>
                <a:ea typeface="微软雅黑" panose="020B0503020204020204" pitchFamily="34" charset="-122"/>
                <a:sym typeface="+mn-ea"/>
              </a:rPr>
              <a:t>Beat-Constrained Semantic Optimization:</a:t>
            </a:r>
          </a:p>
          <a:p>
            <a:pPr algn="just"/>
            <a:endParaRPr lang="en-US" altLang="zh-CN" sz="1300" b="1" dirty="0">
              <a:latin typeface="微软雅黑" panose="020B0503020204020204" pitchFamily="34" charset="-122"/>
              <a:ea typeface="微软雅黑" panose="020B0503020204020204" pitchFamily="34" charset="-122"/>
              <a:sym typeface="+mn-ea"/>
            </a:endParaRPr>
          </a:p>
          <a:p>
            <a:pPr algn="just"/>
            <a:r>
              <a:rPr lang="en-US" altLang="zh-CN" sz="1300" dirty="0">
                <a:latin typeface="微软雅黑" panose="020B0503020204020204" pitchFamily="34" charset="-122"/>
                <a:ea typeface="微软雅黑" panose="020B0503020204020204" pitchFamily="34" charset="-122"/>
                <a:sym typeface="+mn-ea"/>
              </a:rPr>
              <a:t>      The beat-first constraint ensures robust rhythmic synchronization, while the subsequent semantic optimization selects the most contextually appropriate beat position for each key pose, achieving precise alignment of choreographic motivations with </a:t>
            </a:r>
            <a:r>
              <a:rPr lang="en-US" altLang="zh-CN" sz="1300" dirty="0" err="1">
                <a:latin typeface="微软雅黑" panose="020B0503020204020204" pitchFamily="34" charset="-122"/>
                <a:ea typeface="微软雅黑" panose="020B0503020204020204" pitchFamily="34" charset="-122"/>
                <a:sym typeface="+mn-ea"/>
              </a:rPr>
              <a:t>musico</a:t>
            </a:r>
            <a:r>
              <a:rPr lang="en-US" altLang="zh-CN" sz="1300" dirty="0">
                <a:latin typeface="微软雅黑" panose="020B0503020204020204" pitchFamily="34" charset="-122"/>
                <a:ea typeface="微软雅黑" panose="020B0503020204020204" pitchFamily="34" charset="-122"/>
                <a:sym typeface="+mn-ea"/>
              </a:rPr>
              <a:t>-structural events.</a:t>
            </a:r>
          </a:p>
        </p:txBody>
      </p:sp>
      <p:sp>
        <p:nvSpPr>
          <p:cNvPr id="6" name="文本框 5"/>
          <p:cNvSpPr txBox="1"/>
          <p:nvPr/>
        </p:nvSpPr>
        <p:spPr>
          <a:xfrm>
            <a:off x="1966481" y="110973"/>
            <a:ext cx="10484493" cy="1434235"/>
          </a:xfrm>
          <a:prstGeom prst="rect">
            <a:avLst/>
          </a:prstGeom>
          <a:noFill/>
        </p:spPr>
        <p:txBody>
          <a:bodyPr wrap="square" rtlCol="0" anchor="t">
            <a:noAutofit/>
          </a:bodyPr>
          <a:lstStyle/>
          <a:p>
            <a:pPr algn="ctr"/>
            <a:r>
              <a:rPr lang="en-US" altLang="zh-CN" sz="2800" b="1" dirty="0" err="1">
                <a:latin typeface="Times New Roman" panose="02020603050405020304" charset="0"/>
                <a:cs typeface="Times New Roman" panose="02020603050405020304" charset="0"/>
              </a:rPr>
              <a:t>MotivDance</a:t>
            </a:r>
            <a:r>
              <a:rPr lang="en-US" altLang="zh-CN" sz="2800" b="1" dirty="0">
                <a:latin typeface="Times New Roman" panose="02020603050405020304" charset="0"/>
                <a:cs typeface="Times New Roman" panose="02020603050405020304" charset="0"/>
              </a:rPr>
              <a:t>: Fine-Grained Text-Guided Motivation Choreography with Music Synchronization</a:t>
            </a:r>
            <a:endParaRPr lang="zh-CN" altLang="en-US" sz="2800" b="1" dirty="0">
              <a:latin typeface="Times New Roman" panose="02020603050405020304" charset="0"/>
              <a:cs typeface="Times New Roman" panose="02020603050405020304" charset="0"/>
            </a:endParaRPr>
          </a:p>
        </p:txBody>
      </p:sp>
      <p:pic>
        <p:nvPicPr>
          <p:cNvPr id="42" name="图片 41"/>
          <p:cNvPicPr>
            <a:picLocks noChangeAspect="1"/>
          </p:cNvPicPr>
          <p:nvPr/>
        </p:nvPicPr>
        <p:blipFill rotWithShape="1">
          <a:blip r:embed="rId4">
            <a:extLst>
              <a:ext uri="{28A0092B-C50C-407E-A947-70E740481C1C}">
                <a14:useLocalDpi xmlns:a14="http://schemas.microsoft.com/office/drawing/2010/main" val="0"/>
              </a:ext>
            </a:extLst>
          </a:blip>
          <a:srcRect t="-4325" r="74982"/>
          <a:stretch>
            <a:fillRect/>
          </a:stretch>
        </p:blipFill>
        <p:spPr>
          <a:xfrm>
            <a:off x="11790934" y="21135973"/>
            <a:ext cx="666685" cy="429654"/>
          </a:xfrm>
          <a:prstGeom prst="rect">
            <a:avLst/>
          </a:prstGeom>
        </p:spPr>
      </p:pic>
      <p:pic>
        <p:nvPicPr>
          <p:cNvPr id="43" name="图片 42"/>
          <p:cNvPicPr>
            <a:picLocks noChangeAspect="1"/>
          </p:cNvPicPr>
          <p:nvPr/>
        </p:nvPicPr>
        <p:blipFill rotWithShape="1">
          <a:blip r:embed="rId4">
            <a:extLst>
              <a:ext uri="{28A0092B-C50C-407E-A947-70E740481C1C}">
                <a14:useLocalDpi xmlns:a14="http://schemas.microsoft.com/office/drawing/2010/main" val="0"/>
              </a:ext>
            </a:extLst>
          </a:blip>
          <a:srcRect l="26500" t="30812" r="51295" b="15191"/>
          <a:stretch>
            <a:fillRect/>
          </a:stretch>
        </p:blipFill>
        <p:spPr>
          <a:xfrm>
            <a:off x="12457619" y="20974625"/>
            <a:ext cx="1941244" cy="729547"/>
          </a:xfrm>
          <a:prstGeom prst="rect">
            <a:avLst/>
          </a:prstGeom>
        </p:spPr>
      </p:pic>
      <p:sp>
        <p:nvSpPr>
          <p:cNvPr id="1270" name="文本框 1269"/>
          <p:cNvSpPr txBox="1"/>
          <p:nvPr/>
        </p:nvSpPr>
        <p:spPr>
          <a:xfrm>
            <a:off x="127006" y="21216962"/>
            <a:ext cx="12130902" cy="369332"/>
          </a:xfrm>
          <a:prstGeom prst="rect">
            <a:avLst/>
          </a:prstGeom>
          <a:noFill/>
        </p:spPr>
        <p:txBody>
          <a:bodyPr wrap="square">
            <a:spAutoFit/>
          </a:bodyPr>
          <a:lstStyle/>
          <a:p>
            <a:r>
              <a:rPr lang="en-GB" altLang="zh-CN" b="1" i="1" dirty="0">
                <a:solidFill>
                  <a:srgbClr val="194374"/>
                </a:solidFill>
              </a:rPr>
              <a:t>Cronus is named after </a:t>
            </a:r>
            <a:r>
              <a:rPr lang="el-GR" altLang="zh-CN" b="1" i="1" dirty="0">
                <a:solidFill>
                  <a:srgbClr val="194374"/>
                </a:solidFill>
              </a:rPr>
              <a:t>Κρόνος</a:t>
            </a:r>
            <a:r>
              <a:rPr lang="en-GB" altLang="zh-CN" b="1" i="1" dirty="0">
                <a:solidFill>
                  <a:srgbClr val="194374"/>
                </a:solidFill>
              </a:rPr>
              <a:t>, the Greek Titan</a:t>
            </a:r>
            <a:r>
              <a:rPr lang="zh-CN" altLang="en-US" b="1" i="1" dirty="0">
                <a:solidFill>
                  <a:srgbClr val="194374"/>
                </a:solidFill>
              </a:rPr>
              <a:t> </a:t>
            </a:r>
            <a:r>
              <a:rPr lang="en-US" altLang="zh-CN" b="1" i="1" dirty="0">
                <a:solidFill>
                  <a:srgbClr val="194374"/>
                </a:solidFill>
              </a:rPr>
              <a:t>God</a:t>
            </a:r>
            <a:r>
              <a:rPr lang="en-GB" altLang="zh-CN" b="1" i="1" dirty="0">
                <a:solidFill>
                  <a:srgbClr val="194374"/>
                </a:solidFill>
              </a:rPr>
              <a:t> of time, symbolizing temporal modeling and memory.</a:t>
            </a:r>
            <a:endParaRPr lang="zh-CN" altLang="en-US" b="1" i="1" dirty="0">
              <a:solidFill>
                <a:srgbClr val="194374"/>
              </a:solidFill>
            </a:endParaRPr>
          </a:p>
        </p:txBody>
      </p:sp>
      <p:sp>
        <p:nvSpPr>
          <p:cNvPr id="1738" name="文本框 1737"/>
          <p:cNvSpPr txBox="1"/>
          <p:nvPr/>
        </p:nvSpPr>
        <p:spPr>
          <a:xfrm>
            <a:off x="7472772" y="15400934"/>
            <a:ext cx="3787140" cy="369332"/>
          </a:xfrm>
          <a:prstGeom prst="rect">
            <a:avLst/>
          </a:prstGeom>
          <a:noFill/>
        </p:spPr>
        <p:txBody>
          <a:bodyPr wrap="square" rtlCol="0" anchor="t">
            <a:spAutoFit/>
          </a:bodyPr>
          <a:lstStyle/>
          <a:p>
            <a:r>
              <a:rPr lang="en-US" altLang="zh-CN" sz="1800" b="1" dirty="0">
                <a:solidFill>
                  <a:srgbClr val="000000"/>
                </a:solidFill>
                <a:effectLst/>
                <a:latin typeface="NimbusRomNo9L-Medi"/>
              </a:rPr>
              <a:t>Qualitative</a:t>
            </a:r>
            <a:r>
              <a:rPr lang="en-US" altLang="zh-CN" sz="1400" b="1" dirty="0">
                <a:latin typeface="微软雅黑" panose="020B0503020204020204" pitchFamily="34" charset="-122"/>
                <a:ea typeface="微软雅黑" panose="020B0503020204020204" pitchFamily="34" charset="-122"/>
                <a:sym typeface="+mn-ea"/>
              </a:rPr>
              <a:t> Comparison on Benchmark.</a:t>
            </a:r>
          </a:p>
        </p:txBody>
      </p:sp>
      <p:sp>
        <p:nvSpPr>
          <p:cNvPr id="23" name="矩形 22"/>
          <p:cNvSpPr/>
          <p:nvPr/>
        </p:nvSpPr>
        <p:spPr>
          <a:xfrm>
            <a:off x="137160" y="15438932"/>
            <a:ext cx="14122981" cy="5697041"/>
          </a:xfrm>
          <a:prstGeom prst="rect">
            <a:avLst/>
          </a:prstGeom>
          <a:ln w="6350">
            <a:solidFill>
              <a:schemeClr val="accent4"/>
            </a:solidFill>
            <a:prstDash val="sysDot"/>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29" name="图片 28"/>
          <p:cNvPicPr>
            <a:picLocks noChangeAspect="1"/>
          </p:cNvPicPr>
          <p:nvPr/>
        </p:nvPicPr>
        <p:blipFill>
          <a:blip r:embed="rId5"/>
          <a:stretch>
            <a:fillRect/>
          </a:stretch>
        </p:blipFill>
        <p:spPr>
          <a:xfrm>
            <a:off x="8940727" y="2718553"/>
            <a:ext cx="5192051" cy="2391791"/>
          </a:xfrm>
          <a:prstGeom prst="rect">
            <a:avLst/>
          </a:prstGeom>
        </p:spPr>
      </p:pic>
      <p:pic>
        <p:nvPicPr>
          <p:cNvPr id="33" name="图片 32"/>
          <p:cNvPicPr>
            <a:picLocks noChangeAspect="1"/>
          </p:cNvPicPr>
          <p:nvPr/>
        </p:nvPicPr>
        <p:blipFill>
          <a:blip r:embed="rId6"/>
          <a:stretch>
            <a:fillRect/>
          </a:stretch>
        </p:blipFill>
        <p:spPr>
          <a:xfrm>
            <a:off x="323093" y="5358509"/>
            <a:ext cx="7030116" cy="3795831"/>
          </a:xfrm>
          <a:prstGeom prst="rect">
            <a:avLst/>
          </a:prstGeom>
        </p:spPr>
      </p:pic>
      <p:cxnSp>
        <p:nvCxnSpPr>
          <p:cNvPr id="71" name="Straight Connector 8"/>
          <p:cNvCxnSpPr/>
          <p:nvPr/>
        </p:nvCxnSpPr>
        <p:spPr bwMode="auto">
          <a:xfrm>
            <a:off x="323093" y="9289862"/>
            <a:ext cx="13848080" cy="1"/>
          </a:xfrm>
          <a:prstGeom prst="line">
            <a:avLst/>
          </a:prstGeom>
          <a:noFill/>
          <a:ln w="25400" cap="flat" cmpd="sng" algn="ctr">
            <a:solidFill>
              <a:schemeClr val="tx1"/>
            </a:solidFill>
            <a:prstDash val="dash"/>
            <a:round/>
            <a:headEnd type="none" w="med" len="med"/>
            <a:tailEnd type="none" w="med" len="med"/>
          </a:ln>
          <a:effectLst/>
        </p:spPr>
      </p:cxnSp>
      <p:pic>
        <p:nvPicPr>
          <p:cNvPr id="72" name="图片 71"/>
          <p:cNvPicPr>
            <a:picLocks noChangeAspect="1"/>
          </p:cNvPicPr>
          <p:nvPr/>
        </p:nvPicPr>
        <p:blipFill>
          <a:blip r:embed="rId7">
            <a:alphaModFix amt="4000"/>
            <a:extLst>
              <a:ext uri="{28A0092B-C50C-407E-A947-70E740481C1C}">
                <a14:useLocalDpi xmlns:a14="http://schemas.microsoft.com/office/drawing/2010/main" val="0"/>
              </a:ext>
            </a:extLst>
          </a:blip>
          <a:stretch>
            <a:fillRect/>
          </a:stretch>
        </p:blipFill>
        <p:spPr>
          <a:xfrm>
            <a:off x="2307719" y="7368931"/>
            <a:ext cx="10018572" cy="9925810"/>
          </a:xfrm>
          <a:prstGeom prst="ellipse">
            <a:avLst/>
          </a:prstGeom>
          <a:effectLst/>
        </p:spPr>
      </p:pic>
      <p:pic>
        <p:nvPicPr>
          <p:cNvPr id="44" name="图片 43"/>
          <p:cNvPicPr>
            <a:picLocks noChangeAspect="1"/>
          </p:cNvPicPr>
          <p:nvPr/>
        </p:nvPicPr>
        <p:blipFill>
          <a:blip r:embed="rId8"/>
          <a:stretch>
            <a:fillRect/>
          </a:stretch>
        </p:blipFill>
        <p:spPr>
          <a:xfrm>
            <a:off x="250820" y="11818376"/>
            <a:ext cx="3571022" cy="1831837"/>
          </a:xfrm>
          <a:prstGeom prst="rect">
            <a:avLst/>
          </a:prstGeom>
        </p:spPr>
      </p:pic>
      <p:pic>
        <p:nvPicPr>
          <p:cNvPr id="48" name="图片 47"/>
          <p:cNvPicPr>
            <a:picLocks noChangeAspect="1"/>
          </p:cNvPicPr>
          <p:nvPr/>
        </p:nvPicPr>
        <p:blipFill>
          <a:blip r:embed="rId9"/>
          <a:stretch>
            <a:fillRect/>
          </a:stretch>
        </p:blipFill>
        <p:spPr>
          <a:xfrm>
            <a:off x="3838315" y="12010341"/>
            <a:ext cx="3410110" cy="1491560"/>
          </a:xfrm>
          <a:prstGeom prst="rect">
            <a:avLst/>
          </a:prstGeom>
        </p:spPr>
      </p:pic>
      <p:pic>
        <p:nvPicPr>
          <p:cNvPr id="50" name="图片 49"/>
          <p:cNvPicPr>
            <a:picLocks noChangeAspect="1"/>
          </p:cNvPicPr>
          <p:nvPr/>
        </p:nvPicPr>
        <p:blipFill>
          <a:blip r:embed="rId10"/>
          <a:stretch>
            <a:fillRect/>
          </a:stretch>
        </p:blipFill>
        <p:spPr>
          <a:xfrm>
            <a:off x="3124083" y="13661536"/>
            <a:ext cx="3068374" cy="488325"/>
          </a:xfrm>
          <a:prstGeom prst="rect">
            <a:avLst/>
          </a:prstGeom>
        </p:spPr>
      </p:pic>
      <p:pic>
        <p:nvPicPr>
          <p:cNvPr id="52" name="图片 51"/>
          <p:cNvPicPr>
            <a:picLocks noChangeAspect="1"/>
          </p:cNvPicPr>
          <p:nvPr/>
        </p:nvPicPr>
        <p:blipFill>
          <a:blip r:embed="rId11"/>
          <a:stretch>
            <a:fillRect/>
          </a:stretch>
        </p:blipFill>
        <p:spPr>
          <a:xfrm>
            <a:off x="3811419" y="14165741"/>
            <a:ext cx="1701707" cy="416065"/>
          </a:xfrm>
          <a:prstGeom prst="rect">
            <a:avLst/>
          </a:prstGeom>
        </p:spPr>
      </p:pic>
      <p:pic>
        <p:nvPicPr>
          <p:cNvPr id="54" name="图片 53"/>
          <p:cNvPicPr>
            <a:picLocks noChangeAspect="1"/>
          </p:cNvPicPr>
          <p:nvPr/>
        </p:nvPicPr>
        <p:blipFill>
          <a:blip r:embed="rId12"/>
          <a:stretch>
            <a:fillRect/>
          </a:stretch>
        </p:blipFill>
        <p:spPr>
          <a:xfrm>
            <a:off x="5637969" y="14165741"/>
            <a:ext cx="1560681" cy="415638"/>
          </a:xfrm>
          <a:prstGeom prst="rect">
            <a:avLst/>
          </a:prstGeom>
        </p:spPr>
      </p:pic>
      <p:sp>
        <p:nvSpPr>
          <p:cNvPr id="86" name="文本框 85"/>
          <p:cNvSpPr txBox="1"/>
          <p:nvPr/>
        </p:nvSpPr>
        <p:spPr>
          <a:xfrm>
            <a:off x="7539313" y="9924482"/>
            <a:ext cx="6635171" cy="5632311"/>
          </a:xfrm>
          <a:prstGeom prst="rect">
            <a:avLst/>
          </a:prstGeom>
          <a:noFill/>
        </p:spPr>
        <p:txBody>
          <a:bodyPr wrap="square" rtlCol="0">
            <a:spAutoFit/>
          </a:bodyPr>
          <a:lstStyle/>
          <a:p>
            <a:pPr marL="285750" indent="-285750" algn="just">
              <a:buFont typeface="Wingdings" panose="05000000000000000000" pitchFamily="2" charset="2"/>
              <a:buChar char="Ø"/>
            </a:pPr>
            <a:r>
              <a:rPr lang="en-US" altLang="zh-CN" sz="1400" i="1" dirty="0">
                <a:latin typeface="微软雅黑" panose="020B0503020204020204" pitchFamily="34" charset="-122"/>
                <a:ea typeface="微软雅黑" panose="020B0503020204020204" pitchFamily="34" charset="-122"/>
              </a:rPr>
              <a:t>Building upon the key poses, we propose a motion in-</a:t>
            </a:r>
            <a:r>
              <a:rPr lang="en-US" altLang="zh-CN" sz="1400" i="1" dirty="0" err="1">
                <a:latin typeface="微软雅黑" panose="020B0503020204020204" pitchFamily="34" charset="-122"/>
                <a:ea typeface="微软雅黑" panose="020B0503020204020204" pitchFamily="34" charset="-122"/>
              </a:rPr>
              <a:t>betweening</a:t>
            </a:r>
            <a:r>
              <a:rPr lang="en-US" altLang="zh-CN" sz="1400" i="1" dirty="0">
                <a:latin typeface="微软雅黑" panose="020B0503020204020204" pitchFamily="34" charset="-122"/>
                <a:ea typeface="微软雅黑" panose="020B0503020204020204" pitchFamily="34" charset="-122"/>
              </a:rPr>
              <a:t> diffusion model to interpolate the motion between provided keyframes while adhering to the music. The details are as follows:</a:t>
            </a:r>
            <a:endParaRPr lang="en-US" altLang="zh-CN" sz="1400" b="1" i="1" dirty="0">
              <a:solidFill>
                <a:schemeClr val="accent1"/>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en-US" altLang="zh-CN" sz="1400" b="1" dirty="0">
                <a:solidFill>
                  <a:schemeClr val="accent1"/>
                </a:solidFill>
                <a:latin typeface="微软雅黑" panose="020B0503020204020204" pitchFamily="34" charset="-122"/>
                <a:ea typeface="微软雅黑" panose="020B0503020204020204" pitchFamily="34" charset="-122"/>
              </a:rPr>
              <a:t>Key Pose Fusion Mechanism..                             </a:t>
            </a:r>
          </a:p>
          <a:p>
            <a:pPr marL="285750" indent="-285750" algn="just">
              <a:buFont typeface="Wingdings" panose="05000000000000000000" pitchFamily="2" charset="2"/>
              <a:buChar char="Ø"/>
            </a:pP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We use temporal and spatial masks M to randomly sample a subset across the feature dimension, which defined as binary-valued tensors, where values are set to 1 at observed keyframe timesteps and joint positions, and 0 elsewhere.</a:t>
            </a:r>
          </a:p>
          <a:p>
            <a:pPr algn="just"/>
            <a:endPar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fr-FR" altLang="zh-CN" sz="1400" b="1" dirty="0">
                <a:solidFill>
                  <a:schemeClr val="accent1"/>
                </a:solidFill>
                <a:latin typeface="微软雅黑" panose="020B0503020204020204" pitchFamily="34" charset="-122"/>
                <a:ea typeface="微软雅黑" panose="020B0503020204020204" pitchFamily="34" charset="-122"/>
              </a:rPr>
              <a:t>Transformer Based Conditional Diffusion Model.</a:t>
            </a:r>
            <a:r>
              <a:rPr lang="zh-CN" altLang="en-US" sz="1400" b="1" dirty="0">
                <a:solidFill>
                  <a:schemeClr val="accent1"/>
                </a:solidFill>
                <a:latin typeface="微软雅黑" panose="020B0503020204020204" pitchFamily="34" charset="-122"/>
                <a:ea typeface="微软雅黑" panose="020B0503020204020204" pitchFamily="34" charset="-122"/>
              </a:rPr>
              <a:t>                                                  </a:t>
            </a:r>
            <a:endParaRPr lang="en-US" altLang="zh-CN" sz="1400" b="1" dirty="0">
              <a:solidFill>
                <a:schemeClr val="accent1"/>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The core of the diffusion model is a denoising decoder based on the U-Net architecture, following the design of </a:t>
            </a:r>
            <a:r>
              <a:rPr lang="en-US" altLang="zh-CN" sz="1300" dirty="0" err="1">
                <a:solidFill>
                  <a:schemeClr val="tx1">
                    <a:lumMod val="75000"/>
                    <a:lumOff val="25000"/>
                  </a:schemeClr>
                </a:solidFill>
                <a:latin typeface="微软雅黑" panose="020B0503020204020204" pitchFamily="34" charset="-122"/>
                <a:ea typeface="微软雅黑" panose="020B0503020204020204" pitchFamily="34" charset="-122"/>
              </a:rPr>
              <a:t>CondMDI</a:t>
            </a: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 However, the Adaptive Group Normalization (</a:t>
            </a:r>
            <a:r>
              <a:rPr lang="en-US" altLang="zh-CN" sz="1300" dirty="0" err="1">
                <a:solidFill>
                  <a:schemeClr val="tx1">
                    <a:lumMod val="75000"/>
                    <a:lumOff val="25000"/>
                  </a:schemeClr>
                </a:solidFill>
                <a:latin typeface="微软雅黑" panose="020B0503020204020204" pitchFamily="34" charset="-122"/>
                <a:ea typeface="微软雅黑" panose="020B0503020204020204" pitchFamily="34" charset="-122"/>
              </a:rPr>
              <a:t>AdaGN</a:t>
            </a: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 for feature fusion in </a:t>
            </a:r>
            <a:r>
              <a:rPr lang="en-US" altLang="zh-CN" sz="1300" dirty="0" err="1">
                <a:solidFill>
                  <a:schemeClr val="tx1">
                    <a:lumMod val="75000"/>
                    <a:lumOff val="25000"/>
                  </a:schemeClr>
                </a:solidFill>
                <a:latin typeface="微软雅黑" panose="020B0503020204020204" pitchFamily="34" charset="-122"/>
                <a:ea typeface="微软雅黑" panose="020B0503020204020204" pitchFamily="34" charset="-122"/>
              </a:rPr>
              <a:t>CondMDI</a:t>
            </a: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 is insufficient for capturing the complex relationship between musical features and dance motions. Consequently, we adopt the transformer based paradigm, and incorporate residual layers into our U-Net architecture. Furthermore, the model is enhanced with attention mechanisms and dense Feature-wise Linear Modulation (</a:t>
            </a:r>
            <a:r>
              <a:rPr lang="en-US" altLang="zh-CN" sz="1300" dirty="0" err="1">
                <a:solidFill>
                  <a:schemeClr val="tx1">
                    <a:lumMod val="75000"/>
                    <a:lumOff val="25000"/>
                  </a:schemeClr>
                </a:solidFill>
                <a:latin typeface="微软雅黑" panose="020B0503020204020204" pitchFamily="34" charset="-122"/>
                <a:ea typeface="微软雅黑" panose="020B0503020204020204" pitchFamily="34" charset="-122"/>
              </a:rPr>
              <a:t>FiLM</a:t>
            </a: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 layers to enable context-aware conditioning.</a:t>
            </a:r>
          </a:p>
          <a:p>
            <a:pPr marL="285750" indent="-285750" algn="just">
              <a:buFont typeface="Wingdings" panose="05000000000000000000" pitchFamily="2" charset="2"/>
              <a:buChar char="Ø"/>
            </a:pP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In this refined architecture, each </a:t>
            </a:r>
            <a:r>
              <a:rPr lang="en-US" altLang="zh-CN" sz="1300" dirty="0" err="1">
                <a:solidFill>
                  <a:schemeClr val="tx1">
                    <a:lumMod val="75000"/>
                    <a:lumOff val="25000"/>
                  </a:schemeClr>
                </a:solidFill>
                <a:latin typeface="微软雅黑" panose="020B0503020204020204" pitchFamily="34" charset="-122"/>
                <a:ea typeface="微软雅黑" panose="020B0503020204020204" pitchFamily="34" charset="-122"/>
              </a:rPr>
              <a:t>FiLM</a:t>
            </a:r>
            <a:r>
              <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rPr>
              <a:t> layer processes both the output from the preceding layers Y and the timestep embedding</a:t>
            </a:r>
          </a:p>
          <a:p>
            <a:pPr marL="285750" indent="-285750" algn="just">
              <a:buFont typeface="Wingdings" panose="05000000000000000000" pitchFamily="2" charset="2"/>
              <a:buChar char="Ø"/>
            </a:pPr>
            <a:endPar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endPar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endParaRPr lang="en-US" altLang="zh-CN" sz="1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en-US" altLang="zh-CN" sz="1400" i="1" dirty="0">
                <a:latin typeface="微软雅黑" panose="020B0503020204020204" pitchFamily="34" charset="-122"/>
                <a:ea typeface="微软雅黑" panose="020B0503020204020204" pitchFamily="34" charset="-122"/>
              </a:rPr>
              <a:t>Through the hierarchical integration of these design elements, the framework achieves superior adaptation to input motion feature distributions and contextual nuances.</a:t>
            </a:r>
          </a:p>
        </p:txBody>
      </p:sp>
      <p:pic>
        <p:nvPicPr>
          <p:cNvPr id="57" name="图片 56"/>
          <p:cNvPicPr>
            <a:picLocks noChangeAspect="1"/>
          </p:cNvPicPr>
          <p:nvPr/>
        </p:nvPicPr>
        <p:blipFill>
          <a:blip r:embed="rId13"/>
          <a:stretch>
            <a:fillRect/>
          </a:stretch>
        </p:blipFill>
        <p:spPr>
          <a:xfrm>
            <a:off x="9540615" y="11491398"/>
            <a:ext cx="2822328" cy="269962"/>
          </a:xfrm>
          <a:prstGeom prst="rect">
            <a:avLst/>
          </a:prstGeom>
        </p:spPr>
      </p:pic>
      <p:pic>
        <p:nvPicPr>
          <p:cNvPr id="59" name="图片 58"/>
          <p:cNvPicPr>
            <a:picLocks noChangeAspect="1"/>
          </p:cNvPicPr>
          <p:nvPr/>
        </p:nvPicPr>
        <p:blipFill>
          <a:blip r:embed="rId14"/>
          <a:stretch>
            <a:fillRect/>
          </a:stretch>
        </p:blipFill>
        <p:spPr>
          <a:xfrm>
            <a:off x="9610274" y="14017925"/>
            <a:ext cx="2683009" cy="564437"/>
          </a:xfrm>
          <a:prstGeom prst="rect">
            <a:avLst/>
          </a:prstGeom>
        </p:spPr>
      </p:pic>
      <p:pic>
        <p:nvPicPr>
          <p:cNvPr id="63" name="图片 62"/>
          <p:cNvPicPr>
            <a:picLocks noChangeAspect="1"/>
          </p:cNvPicPr>
          <p:nvPr/>
        </p:nvPicPr>
        <p:blipFill>
          <a:blip r:embed="rId15"/>
          <a:stretch>
            <a:fillRect/>
          </a:stretch>
        </p:blipFill>
        <p:spPr>
          <a:xfrm>
            <a:off x="240396" y="15791200"/>
            <a:ext cx="3571023" cy="1551497"/>
          </a:xfrm>
          <a:prstGeom prst="rect">
            <a:avLst/>
          </a:prstGeom>
        </p:spPr>
      </p:pic>
      <p:pic>
        <p:nvPicPr>
          <p:cNvPr id="70" name="图片 69"/>
          <p:cNvPicPr>
            <a:picLocks noChangeAspect="1"/>
          </p:cNvPicPr>
          <p:nvPr/>
        </p:nvPicPr>
        <p:blipFill>
          <a:blip r:embed="rId16"/>
          <a:stretch>
            <a:fillRect/>
          </a:stretch>
        </p:blipFill>
        <p:spPr>
          <a:xfrm>
            <a:off x="3988872" y="15797451"/>
            <a:ext cx="3316835" cy="1940555"/>
          </a:xfrm>
          <a:prstGeom prst="rect">
            <a:avLst/>
          </a:prstGeom>
        </p:spPr>
      </p:pic>
      <p:pic>
        <p:nvPicPr>
          <p:cNvPr id="76" name="图片 75"/>
          <p:cNvPicPr>
            <a:picLocks noChangeAspect="1"/>
          </p:cNvPicPr>
          <p:nvPr/>
        </p:nvPicPr>
        <p:blipFill>
          <a:blip r:embed="rId17"/>
          <a:stretch>
            <a:fillRect/>
          </a:stretch>
        </p:blipFill>
        <p:spPr>
          <a:xfrm>
            <a:off x="261402" y="19513894"/>
            <a:ext cx="3571023" cy="1529378"/>
          </a:xfrm>
          <a:prstGeom prst="rect">
            <a:avLst/>
          </a:prstGeom>
        </p:spPr>
      </p:pic>
      <p:sp>
        <p:nvSpPr>
          <p:cNvPr id="133" name="文本框 132"/>
          <p:cNvSpPr txBox="1"/>
          <p:nvPr/>
        </p:nvSpPr>
        <p:spPr>
          <a:xfrm>
            <a:off x="7533184" y="20555790"/>
            <a:ext cx="3715536" cy="553998"/>
          </a:xfrm>
          <a:prstGeom prst="rect">
            <a:avLst/>
          </a:prstGeom>
          <a:noFill/>
        </p:spPr>
        <p:txBody>
          <a:bodyPr wrap="square">
            <a:spAutoFit/>
          </a:bodyPr>
          <a:lstStyle/>
          <a:p>
            <a:pPr algn="just"/>
            <a:r>
              <a:rPr lang="en-US" altLang="zh-CN" sz="1000" dirty="0">
                <a:latin typeface="Times New Roman" panose="02020603050405020304" charset="0"/>
                <a:cs typeface="Times New Roman" panose="02020603050405020304" charset="0"/>
              </a:rPr>
              <a:t>Figure 5: </a:t>
            </a:r>
            <a:r>
              <a:rPr lang="zh-CN" altLang="en-US" sz="1000" dirty="0">
                <a:latin typeface="Times New Roman" panose="02020603050405020304" charset="0"/>
                <a:cs typeface="Times New Roman" panose="02020603050405020304" charset="0"/>
              </a:rPr>
              <a:t>Qualitative results demonstrate that our MotivDance achieves body-part-aware, fine-grained text-guided dance motion generation. </a:t>
            </a:r>
          </a:p>
        </p:txBody>
      </p:sp>
      <p:pic>
        <p:nvPicPr>
          <p:cNvPr id="105" name="图片 104"/>
          <p:cNvPicPr>
            <a:picLocks noChangeAspect="1"/>
          </p:cNvPicPr>
          <p:nvPr/>
        </p:nvPicPr>
        <p:blipFill>
          <a:blip r:embed="rId18"/>
          <a:stretch>
            <a:fillRect/>
          </a:stretch>
        </p:blipFill>
        <p:spPr>
          <a:xfrm>
            <a:off x="7534851" y="18176913"/>
            <a:ext cx="3715536" cy="2445958"/>
          </a:xfrm>
          <a:prstGeom prst="rect">
            <a:avLst/>
          </a:prstGeom>
        </p:spPr>
      </p:pic>
      <p:pic>
        <p:nvPicPr>
          <p:cNvPr id="107" name="图片 106"/>
          <p:cNvPicPr>
            <a:picLocks noChangeAspect="1"/>
          </p:cNvPicPr>
          <p:nvPr/>
        </p:nvPicPr>
        <p:blipFill>
          <a:blip r:embed="rId19"/>
          <a:stretch>
            <a:fillRect/>
          </a:stretch>
        </p:blipFill>
        <p:spPr>
          <a:xfrm>
            <a:off x="7534851" y="15723908"/>
            <a:ext cx="3639025" cy="1855357"/>
          </a:xfrm>
          <a:prstGeom prst="rect">
            <a:avLst/>
          </a:prstGeom>
        </p:spPr>
      </p:pic>
      <p:pic>
        <p:nvPicPr>
          <p:cNvPr id="111" name="图片 110"/>
          <p:cNvPicPr>
            <a:picLocks noChangeAspect="1"/>
          </p:cNvPicPr>
          <p:nvPr/>
        </p:nvPicPr>
        <p:blipFill>
          <a:blip r:embed="rId20"/>
          <a:stretch>
            <a:fillRect/>
          </a:stretch>
        </p:blipFill>
        <p:spPr>
          <a:xfrm>
            <a:off x="250311" y="17425934"/>
            <a:ext cx="3582114" cy="1929684"/>
          </a:xfrm>
          <a:prstGeom prst="rect">
            <a:avLst/>
          </a:prstGeom>
        </p:spPr>
      </p:pic>
      <p:cxnSp>
        <p:nvCxnSpPr>
          <p:cNvPr id="113" name="连接符: 肘形 112"/>
          <p:cNvCxnSpPr/>
          <p:nvPr/>
        </p:nvCxnSpPr>
        <p:spPr>
          <a:xfrm rot="5400000">
            <a:off x="2888213" y="16604242"/>
            <a:ext cx="5584859" cy="3426236"/>
          </a:xfrm>
          <a:prstGeom prst="bentConnector3">
            <a:avLst>
              <a:gd name="adj1" fmla="val 45907"/>
            </a:avLst>
          </a:prstGeom>
          <a:ln>
            <a:solidFill>
              <a:srgbClr val="D8E2BD"/>
            </a:solidFill>
          </a:ln>
        </p:spPr>
        <p:style>
          <a:lnRef idx="1">
            <a:schemeClr val="accent4"/>
          </a:lnRef>
          <a:fillRef idx="0">
            <a:schemeClr val="accent4"/>
          </a:fillRef>
          <a:effectRef idx="0">
            <a:schemeClr val="accent4"/>
          </a:effectRef>
          <a:fontRef idx="minor">
            <a:schemeClr val="tx1"/>
          </a:fontRef>
        </p:style>
      </p:cxnSp>
      <p:sp>
        <p:nvSpPr>
          <p:cNvPr id="143" name="文本框 142"/>
          <p:cNvSpPr txBox="1"/>
          <p:nvPr/>
        </p:nvSpPr>
        <p:spPr>
          <a:xfrm>
            <a:off x="7534851" y="17498259"/>
            <a:ext cx="3639025" cy="707886"/>
          </a:xfrm>
          <a:prstGeom prst="rect">
            <a:avLst/>
          </a:prstGeom>
          <a:noFill/>
        </p:spPr>
        <p:txBody>
          <a:bodyPr wrap="square">
            <a:spAutoFit/>
          </a:bodyPr>
          <a:lstStyle/>
          <a:p>
            <a:pPr algn="just"/>
            <a:r>
              <a:rPr lang="en-US" altLang="zh-CN" sz="1000" dirty="0">
                <a:latin typeface="Times New Roman" panose="02020603050405020304" charset="0"/>
                <a:cs typeface="Times New Roman" panose="02020603050405020304" charset="0"/>
              </a:rPr>
              <a:t>Figure 6: Qualitative comparison. Our </a:t>
            </a:r>
            <a:r>
              <a:rPr lang="en-US" altLang="zh-CN" sz="1000" dirty="0" err="1">
                <a:latin typeface="Times New Roman" panose="02020603050405020304" charset="0"/>
                <a:cs typeface="Times New Roman" panose="02020603050405020304" charset="0"/>
              </a:rPr>
              <a:t>MotivDance</a:t>
            </a:r>
            <a:r>
              <a:rPr lang="en-US" altLang="zh-CN" sz="1000" dirty="0">
                <a:latin typeface="Times New Roman" panose="02020603050405020304" charset="0"/>
                <a:cs typeface="Times New Roman" panose="02020603050405020304" charset="0"/>
              </a:rPr>
              <a:t> generates dance motions faithfully reflecting body-part-aware fine-grained text control, whereas TM2D struggles to fully comply. Left: Our results. Right: TM2D results.</a:t>
            </a:r>
            <a:endParaRPr lang="zh-CN" altLang="en-US" sz="1000" dirty="0">
              <a:latin typeface="Times New Roman" panose="02020603050405020304" charset="0"/>
              <a:cs typeface="Times New Roman" panose="02020603050405020304" charset="0"/>
            </a:endParaRPr>
          </a:p>
        </p:txBody>
      </p:sp>
      <p:pic>
        <p:nvPicPr>
          <p:cNvPr id="118" name="图片 117"/>
          <p:cNvPicPr>
            <a:picLocks noChangeAspect="1"/>
          </p:cNvPicPr>
          <p:nvPr/>
        </p:nvPicPr>
        <p:blipFill>
          <a:blip r:embed="rId21"/>
          <a:stretch>
            <a:fillRect/>
          </a:stretch>
        </p:blipFill>
        <p:spPr>
          <a:xfrm>
            <a:off x="4270608" y="18221878"/>
            <a:ext cx="2820067" cy="2159100"/>
          </a:xfrm>
          <a:prstGeom prst="rect">
            <a:avLst/>
          </a:prstGeom>
        </p:spPr>
      </p:pic>
      <p:sp>
        <p:nvSpPr>
          <p:cNvPr id="148" name="文本框 147"/>
          <p:cNvSpPr txBox="1"/>
          <p:nvPr/>
        </p:nvSpPr>
        <p:spPr>
          <a:xfrm>
            <a:off x="3990255" y="20563761"/>
            <a:ext cx="3407251" cy="400110"/>
          </a:xfrm>
          <a:prstGeom prst="rect">
            <a:avLst/>
          </a:prstGeom>
          <a:noFill/>
        </p:spPr>
        <p:txBody>
          <a:bodyPr wrap="square">
            <a:spAutoFit/>
          </a:bodyPr>
          <a:lstStyle/>
          <a:p>
            <a:pPr algn="just"/>
            <a:r>
              <a:rPr lang="en-US" altLang="zh-CN" sz="1000" dirty="0">
                <a:latin typeface="Times New Roman" panose="02020603050405020304" charset="0"/>
                <a:cs typeface="Times New Roman" panose="02020603050405020304" charset="0"/>
              </a:rPr>
              <a:t>Figure Appendix 2: We present qualitative results of motion in-</a:t>
            </a:r>
            <a:r>
              <a:rPr lang="en-US" altLang="zh-CN" sz="1000" dirty="0" err="1">
                <a:latin typeface="Times New Roman" panose="02020603050405020304" charset="0"/>
                <a:cs typeface="Times New Roman" panose="02020603050405020304" charset="0"/>
              </a:rPr>
              <a:t>betweening</a:t>
            </a:r>
            <a:r>
              <a:rPr lang="en-US" altLang="zh-CN" sz="1000" dirty="0">
                <a:latin typeface="Times New Roman" panose="02020603050405020304" charset="0"/>
                <a:cs typeface="Times New Roman" panose="02020603050405020304" charset="0"/>
              </a:rPr>
              <a:t> with ground truth and the baseline.</a:t>
            </a:r>
            <a:endParaRPr lang="zh-CN" altLang="en-US" sz="1000" dirty="0">
              <a:latin typeface="Times New Roman" panose="02020603050405020304" charset="0"/>
              <a:cs typeface="Times New Roman" panose="02020603050405020304" charset="0"/>
            </a:endParaRPr>
          </a:p>
        </p:txBody>
      </p:sp>
      <p:cxnSp>
        <p:nvCxnSpPr>
          <p:cNvPr id="121" name="直接连接符 120"/>
          <p:cNvCxnSpPr/>
          <p:nvPr/>
        </p:nvCxnSpPr>
        <p:spPr>
          <a:xfrm>
            <a:off x="11310931" y="15434467"/>
            <a:ext cx="0" cy="5701506"/>
          </a:xfrm>
          <a:prstGeom prst="line">
            <a:avLst/>
          </a:prstGeom>
          <a:ln>
            <a:solidFill>
              <a:srgbClr val="D8E2BD"/>
            </a:solidFill>
          </a:ln>
        </p:spPr>
        <p:style>
          <a:lnRef idx="1">
            <a:schemeClr val="accent1"/>
          </a:lnRef>
          <a:fillRef idx="0">
            <a:schemeClr val="accent1"/>
          </a:fillRef>
          <a:effectRef idx="0">
            <a:schemeClr val="accent1"/>
          </a:effectRef>
          <a:fontRef idx="minor">
            <a:schemeClr val="tx1"/>
          </a:fontRef>
        </p:style>
      </p:cxnSp>
      <p:sp>
        <p:nvSpPr>
          <p:cNvPr id="152" name="文本框 151"/>
          <p:cNvSpPr txBox="1"/>
          <p:nvPr/>
        </p:nvSpPr>
        <p:spPr>
          <a:xfrm>
            <a:off x="12143515" y="15415488"/>
            <a:ext cx="1360966" cy="369332"/>
          </a:xfrm>
          <a:prstGeom prst="rect">
            <a:avLst/>
          </a:prstGeom>
          <a:noFill/>
        </p:spPr>
        <p:txBody>
          <a:bodyPr wrap="square" rtlCol="0" anchor="t">
            <a:spAutoFit/>
          </a:bodyPr>
          <a:lstStyle/>
          <a:p>
            <a:r>
              <a:rPr lang="en-US" altLang="zh-CN" b="1" dirty="0">
                <a:solidFill>
                  <a:srgbClr val="000000"/>
                </a:solidFill>
                <a:latin typeface="NimbusRomNo9L-Medi"/>
              </a:rPr>
              <a:t>User </a:t>
            </a:r>
            <a:r>
              <a:rPr lang="en-US" altLang="zh-CN" sz="1800" b="1" dirty="0">
                <a:solidFill>
                  <a:srgbClr val="000000"/>
                </a:solidFill>
                <a:effectLst/>
                <a:latin typeface="NimbusRomNo9L-Medi"/>
              </a:rPr>
              <a:t>Study</a:t>
            </a:r>
            <a:r>
              <a:rPr lang="en-US" altLang="zh-CN" sz="1400" b="1" dirty="0">
                <a:latin typeface="微软雅黑" panose="020B0503020204020204" pitchFamily="34" charset="-122"/>
                <a:ea typeface="微软雅黑" panose="020B0503020204020204" pitchFamily="34" charset="-122"/>
                <a:sym typeface="+mn-ea"/>
              </a:rPr>
              <a:t>.</a:t>
            </a:r>
          </a:p>
        </p:txBody>
      </p:sp>
      <p:pic>
        <p:nvPicPr>
          <p:cNvPr id="123" name="图片 122"/>
          <p:cNvPicPr>
            <a:picLocks noChangeAspect="1"/>
          </p:cNvPicPr>
          <p:nvPr/>
        </p:nvPicPr>
        <p:blipFill>
          <a:blip r:embed="rId22"/>
          <a:stretch>
            <a:fillRect/>
          </a:stretch>
        </p:blipFill>
        <p:spPr>
          <a:xfrm>
            <a:off x="11424277" y="15748311"/>
            <a:ext cx="2710575" cy="2353611"/>
          </a:xfrm>
          <a:prstGeom prst="rect">
            <a:avLst/>
          </a:prstGeom>
        </p:spPr>
      </p:pic>
      <p:pic>
        <p:nvPicPr>
          <p:cNvPr id="1409" name="图片 1408"/>
          <p:cNvPicPr>
            <a:picLocks noChangeAspect="1"/>
          </p:cNvPicPr>
          <p:nvPr/>
        </p:nvPicPr>
        <p:blipFill>
          <a:blip r:embed="rId23"/>
          <a:stretch>
            <a:fillRect/>
          </a:stretch>
        </p:blipFill>
        <p:spPr>
          <a:xfrm>
            <a:off x="11422055" y="18180110"/>
            <a:ext cx="2732931" cy="2057339"/>
          </a:xfrm>
          <a:prstGeom prst="rect">
            <a:avLst/>
          </a:prstGeom>
        </p:spPr>
      </p:pic>
      <p:sp>
        <p:nvSpPr>
          <p:cNvPr id="159" name="文本框 158"/>
          <p:cNvSpPr txBox="1"/>
          <p:nvPr/>
        </p:nvSpPr>
        <p:spPr>
          <a:xfrm>
            <a:off x="11346363" y="20286601"/>
            <a:ext cx="2808623" cy="861774"/>
          </a:xfrm>
          <a:prstGeom prst="rect">
            <a:avLst/>
          </a:prstGeom>
          <a:noFill/>
        </p:spPr>
        <p:txBody>
          <a:bodyPr wrap="square">
            <a:spAutoFit/>
          </a:bodyPr>
          <a:lstStyle/>
          <a:p>
            <a:pPr algn="just"/>
            <a:r>
              <a:rPr lang="en-US" altLang="zh-CN" sz="1000" dirty="0">
                <a:latin typeface="Times New Roman" panose="02020603050405020304" charset="0"/>
                <a:cs typeface="Times New Roman" panose="02020603050405020304" charset="0"/>
              </a:rPr>
              <a:t>Figure Appendix 1: User study interface. We employ a 1-5 rating scale to evaluate keyframe consistency and motion diversity, where 1 indicates “very unsatisfied” and 5 indicates “very satisfied”.</a:t>
            </a:r>
            <a:endParaRPr lang="zh-CN" altLang="en-US" sz="1000" dirty="0">
              <a:latin typeface="Times New Roman" panose="02020603050405020304" charset="0"/>
              <a:cs typeface="Times New Roman" panose="02020603050405020304" charset="0"/>
            </a:endParaRPr>
          </a:p>
        </p:txBody>
      </p:sp>
      <p:pic>
        <p:nvPicPr>
          <p:cNvPr id="166" name="图片 165"/>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8592" y="687909"/>
            <a:ext cx="3124083" cy="892596"/>
          </a:xfrm>
          <a:prstGeom prst="rect">
            <a:avLst/>
          </a:prstGeom>
        </p:spPr>
      </p:pic>
      <p:pic>
        <p:nvPicPr>
          <p:cNvPr id="1416" name="图片 1415"/>
          <p:cNvPicPr>
            <a:picLocks noChangeAspect="1"/>
          </p:cNvPicPr>
          <p:nvPr/>
        </p:nvPicPr>
        <p:blipFill>
          <a:blip r:embed="rId25"/>
          <a:stretch>
            <a:fillRect/>
          </a:stretch>
        </p:blipFill>
        <p:spPr>
          <a:xfrm>
            <a:off x="18592" y="1628724"/>
            <a:ext cx="3158974" cy="841958"/>
          </a:xfrm>
          <a:prstGeom prst="rect">
            <a:avLst/>
          </a:prstGeom>
        </p:spPr>
      </p:pic>
      <p:pic>
        <p:nvPicPr>
          <p:cNvPr id="3" name="图片 2">
            <a:extLst>
              <a:ext uri="{FF2B5EF4-FFF2-40B4-BE49-F238E27FC236}">
                <a16:creationId xmlns:a16="http://schemas.microsoft.com/office/drawing/2014/main" id="{3CF87800-5321-43DE-9228-CD7571A3F752}"/>
              </a:ext>
            </a:extLst>
          </p:cNvPr>
          <p:cNvPicPr>
            <a:picLocks noChangeAspect="1"/>
          </p:cNvPicPr>
          <p:nvPr/>
        </p:nvPicPr>
        <p:blipFill>
          <a:blip r:embed="rId26"/>
          <a:stretch>
            <a:fillRect/>
          </a:stretch>
        </p:blipFill>
        <p:spPr>
          <a:xfrm>
            <a:off x="12688789" y="321203"/>
            <a:ext cx="1562993" cy="2099480"/>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QwOGJjMjA4MWU4MWRiN2Q0NTM0YWQ2ZjIzMWRlYjY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816</Words>
  <Application>Microsoft Office PowerPoint</Application>
  <PresentationFormat>自定义</PresentationFormat>
  <Paragraphs>56</Paragraphs>
  <Slides>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vt:i4>
      </vt:variant>
    </vt:vector>
  </HeadingPairs>
  <TitlesOfParts>
    <vt:vector size="7" baseType="lpstr">
      <vt:lpstr>NimbusRomNo9L-Medi</vt:lpstr>
      <vt:lpstr>微软雅黑</vt:lpstr>
      <vt:lpstr>Arial</vt:lpstr>
      <vt:lpstr>Times New Roman</vt:lpstr>
      <vt:lpstr>Wingdings</vt:lpstr>
      <vt:lpstr>WPS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张辰皓</dc:creator>
  <cp:lastModifiedBy>galbot</cp:lastModifiedBy>
  <cp:revision>337</cp:revision>
  <cp:lastPrinted>2025-12-20T15:28:00Z</cp:lastPrinted>
  <dcterms:created xsi:type="dcterms:W3CDTF">2025-12-20T07:23:00Z</dcterms:created>
  <dcterms:modified xsi:type="dcterms:W3CDTF">2026-01-10T16:09:39Z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7060A2C9D886472B8FA7A8EB388306BD_12</vt:lpwstr>
  </property>
</Properties>
</file>